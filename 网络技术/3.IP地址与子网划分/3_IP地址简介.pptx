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63" r:id="rId4"/>
    <p:sldId id="264" r:id="rId5"/>
    <p:sldId id="265" r:id="rId6"/>
    <p:sldId id="266" r:id="rId7"/>
    <p:sldId id="267" r:id="rId8"/>
    <p:sldId id="269" r:id="rId9"/>
    <p:sldId id="270" r:id="rId10"/>
    <p:sldId id="268" r:id="rId11"/>
    <p:sldId id="259" r:id="rId12"/>
    <p:sldId id="257" r:id="rId13"/>
    <p:sldId id="258" r:id="rId14"/>
    <p:sldId id="261" r:id="rId15"/>
    <p:sldId id="262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73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103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17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70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672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18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59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778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02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884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1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6022CD9-29DB-46C3-B00D-9E2381981221}" type="datetimeFigureOut">
              <a:rPr lang="zh-CN" altLang="en-US" smtClean="0"/>
              <a:t>2019-03-12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0763392-B3B3-4259-B63A-0AE538E4EB6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30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aidu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地址简介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淄博五中信息中心</a:t>
            </a:r>
          </a:p>
        </p:txBody>
      </p:sp>
    </p:spTree>
    <p:extLst>
      <p:ext uri="{BB962C8B-B14F-4D97-AF65-F5344CB8AC3E}">
        <p14:creationId xmlns:p14="http://schemas.microsoft.com/office/powerpoint/2010/main" val="34303621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1996697"/>
            <a:ext cx="6610561" cy="4023360"/>
          </a:xfrm>
        </p:spPr>
        <p:txBody>
          <a:bodyPr>
            <a:normAutofit/>
          </a:bodyPr>
          <a:lstStyle/>
          <a:p>
            <a:r>
              <a:rPr lang="zh-CN" altLang="en-US" dirty="0"/>
              <a:t>打电话的两种情景</a:t>
            </a:r>
            <a:endParaRPr lang="en-US" altLang="zh-CN" dirty="0"/>
          </a:p>
          <a:p>
            <a:pPr lvl="1"/>
            <a:r>
              <a:rPr lang="zh-CN" altLang="en-US" dirty="0"/>
              <a:t>记得号码</a:t>
            </a:r>
            <a:endParaRPr lang="en-US" altLang="zh-CN" dirty="0"/>
          </a:p>
          <a:p>
            <a:pPr lvl="1"/>
            <a:r>
              <a:rPr lang="zh-CN" altLang="en-US" dirty="0"/>
              <a:t>不记得号码</a:t>
            </a:r>
            <a:r>
              <a:rPr lang="en-US" altLang="zh-CN" dirty="0"/>
              <a:t>——</a:t>
            </a:r>
            <a:r>
              <a:rPr lang="zh-CN" altLang="en-US" dirty="0"/>
              <a:t>电话簿查找人名</a:t>
            </a:r>
            <a:endParaRPr lang="en-US" altLang="zh-CN" dirty="0"/>
          </a:p>
          <a:p>
            <a:pPr lvl="1"/>
            <a:r>
              <a:rPr lang="zh-CN" altLang="en-US" dirty="0"/>
              <a:t>最终，电话系统通过电话号码查找用户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上网的两种情景</a:t>
            </a:r>
            <a:endParaRPr lang="en-US" altLang="zh-CN" dirty="0"/>
          </a:p>
          <a:p>
            <a:pPr lvl="1"/>
            <a:r>
              <a:rPr lang="zh-CN" altLang="en-US" dirty="0"/>
              <a:t>输入域名登录：</a:t>
            </a:r>
            <a:r>
              <a:rPr lang="en-US" altLang="zh-CN" dirty="0">
                <a:hlinkClick r:id="rId2"/>
              </a:rPr>
              <a:t>www.baidu.com</a:t>
            </a:r>
            <a:endParaRPr lang="en-US" altLang="zh-CN" dirty="0"/>
          </a:p>
          <a:p>
            <a:pPr lvl="1"/>
            <a:r>
              <a:rPr lang="zh-CN" altLang="en-US" dirty="0"/>
              <a:t>另一种方式</a:t>
            </a:r>
            <a:r>
              <a:rPr lang="en-US" altLang="zh-CN" dirty="0"/>
              <a:t>——IP</a:t>
            </a:r>
            <a:r>
              <a:rPr lang="zh-CN" altLang="en-US" dirty="0"/>
              <a:t>地址：</a:t>
            </a:r>
            <a:r>
              <a:rPr lang="en-US" altLang="zh-CN" dirty="0"/>
              <a:t>119.75.218.77</a:t>
            </a:r>
          </a:p>
          <a:p>
            <a:pPr lvl="1"/>
            <a:r>
              <a:rPr lang="zh-CN" altLang="en-US" dirty="0"/>
              <a:t>最终，计算机网络通过</a:t>
            </a:r>
            <a:r>
              <a:rPr lang="en-US" altLang="zh-CN" dirty="0"/>
              <a:t>IP</a:t>
            </a:r>
            <a:r>
              <a:rPr lang="zh-CN" altLang="en-US" dirty="0"/>
              <a:t>地址找到对方机器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Open Sans"/>
              </a:rPr>
              <a:t>119.75.218.77</a:t>
            </a: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682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地址表示方法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5675263"/>
              </p:ext>
            </p:extLst>
          </p:nvPr>
        </p:nvGraphicFramePr>
        <p:xfrm>
          <a:off x="762919" y="2084832"/>
          <a:ext cx="10331067" cy="2686619"/>
        </p:xfrm>
        <a:graphic>
          <a:graphicData uri="http://schemas.openxmlformats.org/drawingml/2006/table">
            <a:tbl>
              <a:tblPr/>
              <a:tblGrid>
                <a:gridCol w="3192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8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21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 dirty="0">
                          <a:effectLst/>
                        </a:rPr>
                        <a:t>点分十进制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 dirty="0">
                          <a:effectLst/>
                        </a:rPr>
                        <a:t>二进制（</a:t>
                      </a:r>
                      <a:r>
                        <a:rPr lang="en-US" altLang="zh-CN" sz="2800" b="1" dirty="0">
                          <a:effectLst/>
                        </a:rPr>
                        <a:t>32</a:t>
                      </a:r>
                      <a:r>
                        <a:rPr lang="zh-CN" altLang="en-US" sz="2800" b="1" dirty="0">
                          <a:effectLst/>
                        </a:rPr>
                        <a:t>位）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6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0.0.0.0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00000000 00000000 00000000 00000000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6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1.2.3.4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00000001 00000010 00000011 00000100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6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10.0.0.255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00001010 00000000 00000000 11111111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6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165.195.130.107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10100101 11000011 10000010 01101011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60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255.255.255.255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11111111 11111111 11111111 11111111</a:t>
                      </a:r>
                    </a:p>
                  </a:txBody>
                  <a:tcPr marL="18260" marR="18260" marT="8427" marB="8427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>
          <a:xfrm>
            <a:off x="674784" y="5146026"/>
            <a:ext cx="9720073" cy="582746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思考：</a:t>
            </a:r>
            <a:r>
              <a:rPr lang="en-US" altLang="zh-CN" dirty="0"/>
              <a:t>IP</a:t>
            </a:r>
            <a:r>
              <a:rPr lang="zh-CN" altLang="en-US" dirty="0"/>
              <a:t>地址每一组数可以是任意整数吗？</a:t>
            </a:r>
          </a:p>
        </p:txBody>
      </p:sp>
    </p:spTree>
    <p:extLst>
      <p:ext uri="{BB962C8B-B14F-4D97-AF65-F5344CB8AC3E}">
        <p14:creationId xmlns:p14="http://schemas.microsoft.com/office/powerpoint/2010/main" val="375563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1809407"/>
            <a:ext cx="9720073" cy="512284"/>
          </a:xfrm>
        </p:spPr>
        <p:txBody>
          <a:bodyPr/>
          <a:lstStyle/>
          <a:p>
            <a:r>
              <a:rPr lang="zh-CN" altLang="en-US" dirty="0"/>
              <a:t>手机号码结构（</a:t>
            </a:r>
            <a:r>
              <a:rPr lang="en-US" altLang="zh-CN" dirty="0"/>
              <a:t>3+4+4</a:t>
            </a:r>
            <a:r>
              <a:rPr lang="zh-CN" altLang="en-US" dirty="0"/>
              <a:t>）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852371"/>
              </p:ext>
            </p:extLst>
          </p:nvPr>
        </p:nvGraphicFramePr>
        <p:xfrm>
          <a:off x="1024128" y="2355342"/>
          <a:ext cx="9849519" cy="1082040"/>
        </p:xfrm>
        <a:graphic>
          <a:graphicData uri="http://schemas.openxmlformats.org/drawingml/2006/table">
            <a:tbl>
              <a:tblPr/>
              <a:tblGrid>
                <a:gridCol w="3283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31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effectLst/>
                        </a:rPr>
                        <a:t>182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>
                          <a:effectLst/>
                        </a:rPr>
                        <a:t>6438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b="1" dirty="0">
                          <a:effectLst/>
                        </a:rPr>
                        <a:t>8861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>
                          <a:effectLst/>
                        </a:rPr>
                        <a:t>运营商（</a:t>
                      </a:r>
                      <a:r>
                        <a:rPr lang="en-US" altLang="zh-CN" sz="2800" dirty="0">
                          <a:effectLst/>
                        </a:rPr>
                        <a:t>3</a:t>
                      </a:r>
                      <a:r>
                        <a:rPr lang="zh-CN" altLang="en-US" sz="2800" dirty="0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>
                          <a:effectLst/>
                        </a:rPr>
                        <a:t>地区编码（</a:t>
                      </a:r>
                      <a:r>
                        <a:rPr lang="en-US" altLang="zh-CN" sz="2800" dirty="0">
                          <a:effectLst/>
                        </a:rPr>
                        <a:t>4</a:t>
                      </a:r>
                      <a:r>
                        <a:rPr lang="zh-CN" altLang="en-US" sz="2800" dirty="0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dirty="0">
                          <a:effectLst/>
                        </a:rPr>
                        <a:t>用户标识（</a:t>
                      </a:r>
                      <a:r>
                        <a:rPr lang="en-US" altLang="zh-CN" sz="2800" dirty="0">
                          <a:effectLst/>
                        </a:rPr>
                        <a:t>4</a:t>
                      </a:r>
                      <a:r>
                        <a:rPr lang="zh-CN" altLang="en-US" sz="2800" dirty="0">
                          <a:effectLst/>
                        </a:rPr>
                        <a:t>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内容占位符 2"/>
          <p:cNvSpPr txBox="1">
            <a:spLocks/>
          </p:cNvSpPr>
          <p:nvPr/>
        </p:nvSpPr>
        <p:spPr>
          <a:xfrm>
            <a:off x="1024128" y="3660238"/>
            <a:ext cx="9720073" cy="51228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IP</a:t>
            </a:r>
            <a:r>
              <a:rPr lang="zh-CN" altLang="en-US" dirty="0"/>
              <a:t>地址结构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15118"/>
              </p:ext>
            </p:extLst>
          </p:nvPr>
        </p:nvGraphicFramePr>
        <p:xfrm>
          <a:off x="1024127" y="4172522"/>
          <a:ext cx="9849520" cy="1623060"/>
        </p:xfrm>
        <a:graphic>
          <a:graphicData uri="http://schemas.openxmlformats.org/drawingml/2006/table">
            <a:tbl>
              <a:tblPr/>
              <a:tblGrid>
                <a:gridCol w="4924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731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800" b="1" dirty="0">
                          <a:effectLst/>
                        </a:rPr>
                        <a:t>网络号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>
                          <a:effectLst/>
                        </a:rPr>
                        <a:t>主机号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73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effectLst/>
                        </a:rPr>
                        <a:t>119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75.218.77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731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800" dirty="0">
                          <a:effectLst/>
                        </a:rPr>
                        <a:t>192.168.1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243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内容占位符 2"/>
          <p:cNvSpPr txBox="1">
            <a:spLocks/>
          </p:cNvSpPr>
          <p:nvPr/>
        </p:nvSpPr>
        <p:spPr>
          <a:xfrm>
            <a:off x="3844446" y="5880134"/>
            <a:ext cx="4594475" cy="51228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网络号与主机号长度不固定</a:t>
            </a:r>
          </a:p>
        </p:txBody>
      </p:sp>
    </p:spTree>
    <p:extLst>
      <p:ext uri="{BB962C8B-B14F-4D97-AF65-F5344CB8AC3E}">
        <p14:creationId xmlns:p14="http://schemas.microsoft.com/office/powerpoint/2010/main" val="649297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分类寻址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011" y="1853478"/>
            <a:ext cx="8858002" cy="458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70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地址范围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7" y="2084832"/>
            <a:ext cx="9720073" cy="655504"/>
          </a:xfrm>
        </p:spPr>
        <p:txBody>
          <a:bodyPr/>
          <a:lstStyle/>
          <a:p>
            <a:r>
              <a:rPr lang="zh-CN" altLang="en-US" dirty="0"/>
              <a:t>下面以</a:t>
            </a:r>
            <a:r>
              <a:rPr lang="en-US" altLang="zh-CN" dirty="0"/>
              <a:t>B</a:t>
            </a:r>
            <a:r>
              <a:rPr lang="zh-CN" altLang="en-US" dirty="0"/>
              <a:t>类地址为例，计算一下点分十进制</a:t>
            </a:r>
            <a:r>
              <a:rPr lang="en-US" altLang="zh-CN" dirty="0" err="1"/>
              <a:t>ip</a:t>
            </a:r>
            <a:r>
              <a:rPr lang="zh-CN" altLang="en-US" dirty="0"/>
              <a:t>地址范围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56559"/>
              </p:ext>
            </p:extLst>
          </p:nvPr>
        </p:nvGraphicFramePr>
        <p:xfrm>
          <a:off x="757092" y="2740336"/>
          <a:ext cx="10777570" cy="2835508"/>
        </p:xfrm>
        <a:graphic>
          <a:graphicData uri="http://schemas.openxmlformats.org/drawingml/2006/table">
            <a:tbl>
              <a:tblPr/>
              <a:tblGrid>
                <a:gridCol w="2155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5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5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9380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</a:rPr>
                        <a:t>二进制最小值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>
                          <a:effectLst/>
                        </a:rPr>
                        <a:t>10000000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>
                          <a:effectLst/>
                        </a:rPr>
                        <a:t>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>
                          <a:effectLst/>
                        </a:rPr>
                        <a:t>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>
                          <a:effectLst/>
                        </a:rPr>
                        <a:t>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95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effectLst/>
                        </a:rPr>
                        <a:t>对应十进制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128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801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>
                          <a:effectLst/>
                        </a:rPr>
                        <a:t>二进制最大值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10111111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11111111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11111111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11111111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953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>
                          <a:effectLst/>
                        </a:rPr>
                        <a:t>对应十进制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191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255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255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255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内容占位符 2"/>
          <p:cNvSpPr txBox="1">
            <a:spLocks/>
          </p:cNvSpPr>
          <p:nvPr/>
        </p:nvSpPr>
        <p:spPr>
          <a:xfrm>
            <a:off x="757092" y="5797517"/>
            <a:ext cx="9720073" cy="655504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B</a:t>
            </a:r>
            <a:r>
              <a:rPr lang="zh-CN" altLang="en-US" dirty="0"/>
              <a:t>类地址范围：</a:t>
            </a:r>
            <a:r>
              <a:rPr lang="en-US" altLang="zh-CN" dirty="0"/>
              <a:t>128.0.0.0——191.255.255.255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462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地址分类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351836"/>
              </p:ext>
            </p:extLst>
          </p:nvPr>
        </p:nvGraphicFramePr>
        <p:xfrm>
          <a:off x="749146" y="2230915"/>
          <a:ext cx="10499076" cy="4140276"/>
        </p:xfrm>
        <a:graphic>
          <a:graphicData uri="http://schemas.openxmlformats.org/drawingml/2006/table">
            <a:tbl>
              <a:tblPr/>
              <a:tblGrid>
                <a:gridCol w="1251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1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68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482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</a:rPr>
                        <a:t>类型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地址范围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高序位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网络数量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主机数量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753"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A</a:t>
                      </a:r>
                      <a:r>
                        <a:rPr lang="zh-CN" altLang="en-US" sz="2400">
                          <a:effectLst/>
                        </a:rPr>
                        <a:t>类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0.0.0.0-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effectLst/>
                        </a:rPr>
                        <a:t>127</a:t>
                      </a:r>
                      <a:r>
                        <a:rPr lang="en-US" altLang="zh-CN" sz="2400" dirty="0">
                          <a:effectLst/>
                        </a:rPr>
                        <a:t>.255.255.255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0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128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16777216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2753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B</a:t>
                      </a:r>
                      <a:r>
                        <a:rPr lang="zh-CN" altLang="en-US" sz="2400" dirty="0">
                          <a:effectLst/>
                        </a:rPr>
                        <a:t>类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128.0.0.0-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effectLst/>
                        </a:rPr>
                        <a:t>191</a:t>
                      </a:r>
                      <a:r>
                        <a:rPr lang="en-US" altLang="zh-CN" sz="2400" dirty="0">
                          <a:effectLst/>
                        </a:rPr>
                        <a:t>.255.255.255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10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16384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65536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2753"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C</a:t>
                      </a:r>
                      <a:r>
                        <a:rPr lang="zh-CN" altLang="en-US" sz="2400">
                          <a:effectLst/>
                        </a:rPr>
                        <a:t>类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192.0.0.0-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effectLst/>
                        </a:rPr>
                        <a:t>223</a:t>
                      </a:r>
                      <a:r>
                        <a:rPr lang="en-US" altLang="zh-CN" sz="2400" dirty="0">
                          <a:effectLst/>
                        </a:rPr>
                        <a:t>.255.255.255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110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2097152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256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2753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D</a:t>
                      </a:r>
                      <a:r>
                        <a:rPr lang="zh-CN" altLang="en-US" sz="2400" dirty="0">
                          <a:effectLst/>
                        </a:rPr>
                        <a:t>类（组播）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224.0.0.0-</a:t>
                      </a:r>
                      <a:r>
                        <a:rPr lang="en-US" altLang="zh-CN" sz="2400" dirty="0">
                          <a:solidFill>
                            <a:srgbClr val="FF0000"/>
                          </a:solidFill>
                          <a:effectLst/>
                        </a:rPr>
                        <a:t>239</a:t>
                      </a:r>
                      <a:r>
                        <a:rPr lang="en-US" altLang="zh-CN" sz="2400" dirty="0">
                          <a:effectLst/>
                        </a:rPr>
                        <a:t>.255.255.255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1110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N/A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N/A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2753"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E</a:t>
                      </a:r>
                      <a:r>
                        <a:rPr lang="zh-CN" altLang="en-US" sz="2400" dirty="0">
                          <a:effectLst/>
                        </a:rPr>
                        <a:t>类（保留）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240.0.0.0-255.255.255.255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>
                          <a:effectLst/>
                        </a:rPr>
                        <a:t>1111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>
                          <a:effectLst/>
                        </a:rPr>
                        <a:t>N/A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>
                          <a:effectLst/>
                        </a:rPr>
                        <a:t>N/A</a:t>
                      </a:r>
                    </a:p>
                  </a:txBody>
                  <a:tcPr marL="21110" marR="21110" marT="9743" marB="9743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30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地址类型判断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88756"/>
              </p:ext>
            </p:extLst>
          </p:nvPr>
        </p:nvGraphicFramePr>
        <p:xfrm>
          <a:off x="886246" y="2084832"/>
          <a:ext cx="10879768" cy="4186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1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14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1859"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二进制（高序位）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3200" dirty="0"/>
                        <a:t>点分十进制（第一组十进制数）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910"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A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0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0——127</a:t>
                      </a:r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910"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B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10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128——191</a:t>
                      </a:r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910"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C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110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192——223</a:t>
                      </a:r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910"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D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1110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224——239</a:t>
                      </a:r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910"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E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1111</a:t>
                      </a:r>
                      <a:endParaRPr lang="zh-CN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3200" dirty="0"/>
                        <a:t>240——255</a:t>
                      </a:r>
                      <a:endParaRPr lang="zh-CN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210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以下</a:t>
            </a:r>
            <a:r>
              <a:rPr lang="en-US" altLang="zh-CN" dirty="0"/>
              <a:t>IP</a:t>
            </a:r>
            <a:r>
              <a:rPr lang="zh-CN" altLang="en-US" dirty="0"/>
              <a:t>地址属于哪类地址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2286000"/>
            <a:ext cx="9720073" cy="2043629"/>
          </a:xfrm>
        </p:spPr>
        <p:txBody>
          <a:bodyPr/>
          <a:lstStyle/>
          <a:p>
            <a:r>
              <a:rPr lang="zh-CN" altLang="en-US" dirty="0"/>
              <a:t>百度</a:t>
            </a:r>
            <a:r>
              <a:rPr lang="en-US" altLang="zh-CN" dirty="0"/>
              <a:t>IP</a:t>
            </a:r>
            <a:r>
              <a:rPr lang="zh-CN" altLang="en-US" dirty="0"/>
              <a:t>：</a:t>
            </a:r>
            <a:r>
              <a:rPr lang="en-US" altLang="zh-CN" dirty="0"/>
              <a:t>119.75.218.77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淘宝</a:t>
            </a:r>
            <a:r>
              <a:rPr lang="en-US" altLang="zh-CN" dirty="0"/>
              <a:t>IP</a:t>
            </a:r>
            <a:r>
              <a:rPr lang="zh-CN" altLang="en-US" dirty="0"/>
              <a:t>：</a:t>
            </a:r>
            <a:r>
              <a:rPr lang="en-US" altLang="zh-CN" dirty="0"/>
              <a:t>123.129.215.178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淄博五中</a:t>
            </a:r>
            <a:r>
              <a:rPr lang="en-US" altLang="zh-CN" dirty="0"/>
              <a:t>IP </a:t>
            </a:r>
            <a:r>
              <a:rPr lang="zh-CN" altLang="en-US" dirty="0"/>
              <a:t>：</a:t>
            </a:r>
            <a:r>
              <a:rPr lang="en-US" altLang="zh-CN" dirty="0"/>
              <a:t>222.134.153.158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6938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单播地址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33800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能够分配给主机的地址称为单播地址。</a:t>
            </a:r>
            <a:endParaRPr lang="en-US" altLang="zh-CN" dirty="0"/>
          </a:p>
          <a:p>
            <a:r>
              <a:rPr lang="zh-CN" altLang="en-US" dirty="0"/>
              <a:t>有两类地址不能分配给主机使用</a:t>
            </a:r>
            <a:endParaRPr lang="en-US" altLang="zh-CN" dirty="0"/>
          </a:p>
          <a:p>
            <a:pPr lvl="1"/>
            <a:r>
              <a:rPr lang="zh-CN" altLang="en-US" dirty="0"/>
              <a:t>全</a:t>
            </a:r>
            <a:r>
              <a:rPr lang="en-US" altLang="zh-CN" dirty="0"/>
              <a:t>0</a:t>
            </a:r>
            <a:r>
              <a:rPr lang="zh-CN" altLang="en-US" dirty="0"/>
              <a:t>地址：网络地址，代表整个网络，不指定 任何一台主机</a:t>
            </a:r>
            <a:endParaRPr lang="en-US" altLang="zh-CN" dirty="0"/>
          </a:p>
          <a:p>
            <a:pPr lvl="2"/>
            <a:r>
              <a:rPr lang="en-US" altLang="zh-CN" dirty="0"/>
              <a:t>192.168.1.0</a:t>
            </a:r>
          </a:p>
          <a:p>
            <a:pPr lvl="1"/>
            <a:r>
              <a:rPr lang="zh-CN" altLang="en-US" dirty="0"/>
              <a:t>全</a:t>
            </a:r>
            <a:r>
              <a:rPr lang="en-US" altLang="zh-CN" dirty="0"/>
              <a:t>1</a:t>
            </a:r>
            <a:r>
              <a:rPr lang="zh-CN" altLang="en-US" dirty="0"/>
              <a:t>地址：广播地址，指该网段里的所有主机</a:t>
            </a:r>
            <a:endParaRPr lang="en-US" altLang="zh-CN" dirty="0"/>
          </a:p>
          <a:p>
            <a:pPr lvl="2"/>
            <a:r>
              <a:rPr lang="en-US" altLang="zh-CN" dirty="0"/>
              <a:t>192.168.1.255</a:t>
            </a:r>
          </a:p>
          <a:p>
            <a:pPr lvl="2"/>
            <a:endParaRPr lang="en-US" altLang="zh-CN" dirty="0"/>
          </a:p>
          <a:p>
            <a:r>
              <a:rPr lang="zh-CN" altLang="en-US" dirty="0"/>
              <a:t>这两个地址不能分配给具体主机使用。所以，实际可分配主机数量需要</a:t>
            </a:r>
            <a:r>
              <a:rPr lang="zh-CN" altLang="en-US" dirty="0">
                <a:solidFill>
                  <a:srgbClr val="FF0000"/>
                </a:solidFill>
              </a:rPr>
              <a:t>减去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比如</a:t>
            </a:r>
            <a:r>
              <a:rPr lang="en-US" altLang="zh-CN" dirty="0"/>
              <a:t>C</a:t>
            </a:r>
            <a:r>
              <a:rPr lang="zh-CN" altLang="en-US" dirty="0"/>
              <a:t>类地址的主机数量为</a:t>
            </a:r>
            <a:r>
              <a:rPr lang="en-US" altLang="zh-CN" dirty="0"/>
              <a:t>256</a:t>
            </a:r>
            <a:r>
              <a:rPr lang="zh-CN" altLang="en-US" dirty="0"/>
              <a:t>，实际可分配的主机地址为</a:t>
            </a:r>
            <a:endParaRPr lang="en-US" altLang="zh-CN" dirty="0"/>
          </a:p>
          <a:p>
            <a:r>
              <a:rPr lang="en-US" altLang="zh-CN" dirty="0"/>
              <a:t>256-2=254 </a:t>
            </a:r>
          </a:p>
          <a:p>
            <a:endParaRPr lang="en-US" altLang="zh-CN" dirty="0"/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0959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子网寻址与划分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707549" y="3704312"/>
            <a:ext cx="10665575" cy="2704696"/>
            <a:chOff x="433860" y="1900166"/>
            <a:chExt cx="10665575" cy="2704696"/>
          </a:xfrm>
        </p:grpSpPr>
        <p:sp>
          <p:nvSpPr>
            <p:cNvPr id="4" name="文本框 3"/>
            <p:cNvSpPr txBox="1"/>
            <p:nvPr/>
          </p:nvSpPr>
          <p:spPr>
            <a:xfrm>
              <a:off x="1897038" y="2388356"/>
              <a:ext cx="9075761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3600" dirty="0">
                  <a:solidFill>
                    <a:srgbClr val="FF0000"/>
                  </a:solidFill>
                </a:rPr>
                <a:t>10</a:t>
              </a:r>
              <a:endParaRPr lang="zh-CN" altLang="en-US" sz="3600" dirty="0"/>
            </a:p>
          </p:txBody>
        </p:sp>
        <p:cxnSp>
          <p:nvCxnSpPr>
            <p:cNvPr id="6" name="直接连接符 5"/>
            <p:cNvCxnSpPr/>
            <p:nvPr/>
          </p:nvCxnSpPr>
          <p:spPr>
            <a:xfrm flipH="1">
              <a:off x="2197290" y="2388356"/>
              <a:ext cx="13648" cy="64633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 flipH="1">
              <a:off x="2511190" y="2388356"/>
              <a:ext cx="13648" cy="64633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 flipH="1">
              <a:off x="6264324" y="2388355"/>
              <a:ext cx="13648" cy="64633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 flipH="1">
              <a:off x="8720921" y="2388354"/>
              <a:ext cx="13648" cy="646331"/>
            </a:xfrm>
            <a:prstGeom prst="line">
              <a:avLst/>
            </a:prstGeom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3267074" y="2526853"/>
              <a:ext cx="13612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网络号</a:t>
              </a:r>
              <a:r>
                <a:rPr lang="en-US" altLang="zh-CN" dirty="0"/>
                <a:t>16</a:t>
              </a:r>
              <a:r>
                <a:rPr lang="zh-CN" altLang="en-US" dirty="0"/>
                <a:t>位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6583480" y="2526853"/>
              <a:ext cx="1194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子网</a:t>
              </a:r>
              <a:r>
                <a:rPr lang="en-US" altLang="zh-CN" dirty="0"/>
                <a:t>ID8</a:t>
              </a:r>
              <a:r>
                <a:rPr lang="zh-CN" altLang="en-US" dirty="0"/>
                <a:t>位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9080173" y="2526853"/>
              <a:ext cx="1194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主机</a:t>
              </a:r>
              <a:r>
                <a:rPr lang="en-US" altLang="zh-CN" dirty="0"/>
                <a:t>ID8</a:t>
              </a:r>
              <a:r>
                <a:rPr lang="zh-CN" altLang="en-US" dirty="0"/>
                <a:t>位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897038" y="1900166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0</a:t>
              </a:r>
              <a:endParaRPr lang="zh-CN" altLang="en-US" dirty="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5953020" y="190016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15</a:t>
              </a:r>
              <a:endParaRPr lang="zh-CN" altLang="en-US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6279266" y="1900166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16</a:t>
              </a:r>
              <a:endParaRPr lang="zh-CN" altLang="en-US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10661495" y="191694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31</a:t>
              </a:r>
              <a:endParaRPr lang="zh-CN" altLang="en-US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33860" y="2434520"/>
              <a:ext cx="1290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B</a:t>
              </a:r>
              <a:r>
                <a:rPr lang="zh-CN" altLang="en-US" sz="2400" dirty="0"/>
                <a:t>类网络</a:t>
              </a:r>
            </a:p>
          </p:txBody>
        </p:sp>
        <p:sp>
          <p:nvSpPr>
            <p:cNvPr id="19" name="左大括号 18"/>
            <p:cNvSpPr/>
            <p:nvPr/>
          </p:nvSpPr>
          <p:spPr>
            <a:xfrm rot="16200000">
              <a:off x="3906900" y="1343751"/>
              <a:ext cx="362964" cy="4351883"/>
            </a:xfrm>
            <a:prstGeom prst="leftBrac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左大括号 19"/>
            <p:cNvSpPr/>
            <p:nvPr/>
          </p:nvSpPr>
          <p:spPr>
            <a:xfrm rot="16200000">
              <a:off x="7306775" y="2309407"/>
              <a:ext cx="385347" cy="2442948"/>
            </a:xfrm>
            <a:prstGeom prst="leftBrace">
              <a:avLst/>
            </a:prstGeom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2670993" y="3773865"/>
              <a:ext cx="2834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/>
                <a:t>B</a:t>
              </a:r>
              <a:r>
                <a:rPr lang="zh-CN" altLang="en-US" sz="2400" dirty="0"/>
                <a:t>类网络默认网络号</a:t>
              </a: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6264324" y="3773865"/>
              <a:ext cx="24565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/>
                <a:t>部分主机号充当子网络号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174195" y="1961419"/>
            <a:ext cx="121050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333333"/>
                </a:solidFill>
                <a:latin typeface="Arial" panose="020B0604020202020204" pitchFamily="34" charset="0"/>
                <a:ea typeface="Open Sans"/>
              </a:rPr>
              <a:t>子网划分：</a:t>
            </a:r>
            <a:r>
              <a:rPr lang="zh-CN" altLang="zh-CN" sz="2400" dirty="0">
                <a:solidFill>
                  <a:srgbClr val="333333"/>
                </a:solidFill>
                <a:latin typeface="Arial" panose="020B0604020202020204" pitchFamily="34" charset="0"/>
                <a:ea typeface="Open Sans"/>
              </a:rPr>
              <a:t>把一个大网络通过掩码分割成许多小网络</a:t>
            </a:r>
            <a:endParaRPr lang="en-US" altLang="zh-CN" sz="2400" dirty="0">
              <a:solidFill>
                <a:srgbClr val="333333"/>
              </a:solidFill>
              <a:latin typeface="Arial" panose="020B0604020202020204" pitchFamily="34" charset="0"/>
              <a:ea typeface="Open San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solidFill>
                  <a:srgbClr val="333333"/>
                </a:solidFill>
                <a:latin typeface="Arial" panose="020B0604020202020204" pitchFamily="34" charset="0"/>
                <a:ea typeface="Open Sans"/>
              </a:rPr>
              <a:t>思       路：</a:t>
            </a:r>
            <a:r>
              <a:rPr lang="zh-CN" altLang="zh-CN" sz="2400" dirty="0">
                <a:solidFill>
                  <a:srgbClr val="333333"/>
                </a:solidFill>
                <a:latin typeface="Arial" panose="020B0604020202020204" pitchFamily="34" charset="0"/>
                <a:ea typeface="Open Sans"/>
              </a:rPr>
              <a:t>将主机号的一部分（左边的位）拿出来做子网络号，剩余的部分做子网主机号</a:t>
            </a:r>
            <a:r>
              <a:rPr lang="zh-CN" altLang="zh-CN" sz="2400" dirty="0">
                <a:latin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333333"/>
              </a:solidFill>
              <a:latin typeface="Arial" panose="020B0604020202020204" pitchFamily="34" charset="0"/>
              <a:ea typeface="Open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2400" dirty="0">
                <a:solidFill>
                  <a:srgbClr val="FF0000"/>
                </a:solidFill>
                <a:latin typeface="Arial" panose="020B0604020202020204" pitchFamily="34" charset="0"/>
                <a:ea typeface="Open Sans"/>
              </a:rPr>
              <a:t>子网寻址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Open Sans"/>
              </a:rPr>
              <a:t>：</a:t>
            </a:r>
            <a:r>
              <a:rPr lang="zh-CN" altLang="zh-CN" sz="2400" dirty="0">
                <a:solidFill>
                  <a:srgbClr val="333333"/>
                </a:solidFill>
                <a:latin typeface="Arial" panose="020B0604020202020204" pitchFamily="34" charset="0"/>
                <a:ea typeface="Open Sans"/>
              </a:rPr>
              <a:t>支持</a:t>
            </a:r>
            <a:r>
              <a:rPr lang="zh-CN" altLang="en-US" sz="2400" dirty="0">
                <a:solidFill>
                  <a:srgbClr val="333333"/>
                </a:solidFill>
                <a:latin typeface="Arial" panose="020B0604020202020204" pitchFamily="34" charset="0"/>
                <a:ea typeface="Open Sans"/>
              </a:rPr>
              <a:t>子网划分功能</a:t>
            </a:r>
            <a:r>
              <a:rPr lang="zh-CN" altLang="zh-CN" sz="2400" dirty="0">
                <a:solidFill>
                  <a:srgbClr val="333333"/>
                </a:solidFill>
                <a:latin typeface="Arial" panose="020B0604020202020204" pitchFamily="34" charset="0"/>
                <a:ea typeface="Open Sans"/>
              </a:rPr>
              <a:t>的方法</a:t>
            </a:r>
            <a:endParaRPr lang="zh-CN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882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6202908" y="1978924"/>
            <a:ext cx="122830" cy="3057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835021" y="1978924"/>
            <a:ext cx="122830" cy="3057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992573" y="1978924"/>
            <a:ext cx="122830" cy="3057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*子网掩码</a:t>
            </a:r>
            <a:r>
              <a:rPr lang="en-US" altLang="zh-CN" dirty="0"/>
              <a:t>——</a:t>
            </a:r>
            <a:r>
              <a:rPr lang="zh-CN" altLang="en-US" dirty="0"/>
              <a:t>网络地址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97039" y="2388356"/>
            <a:ext cx="686482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0000000  00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00000  0000000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  00001110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897039" y="3250260"/>
            <a:ext cx="686482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1111111  11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11111  1111111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  00000000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897039" y="4246546"/>
            <a:ext cx="686482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0000000  00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en-US" altLang="zh-CN" sz="2400" dirty="0"/>
              <a:t>00000  0000000</a:t>
            </a:r>
            <a:r>
              <a:rPr lang="en-US" altLang="zh-CN" sz="2400" dirty="0">
                <a:solidFill>
                  <a:srgbClr val="FF0000"/>
                </a:solidFill>
              </a:rPr>
              <a:t>1 </a:t>
            </a:r>
            <a:r>
              <a:rPr lang="en-US" altLang="zh-CN" sz="2400" dirty="0"/>
              <a:t> 00000000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700962" y="23851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地址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0962" y="32502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掩码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3426" y="424654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结果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250791" y="2395599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128.32.1.14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9250790" y="3276640"/>
            <a:ext cx="2579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255.255.255.0/24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250790" y="4246545"/>
            <a:ext cx="15760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128.32.1.0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776783" y="5313429"/>
            <a:ext cx="110979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IPv4</a:t>
            </a:r>
            <a:r>
              <a:rPr lang="zh-CN" altLang="en-US" sz="2400" dirty="0"/>
              <a:t>地址</a:t>
            </a:r>
            <a:r>
              <a:rPr lang="en-US" altLang="zh-CN" sz="2400" dirty="0"/>
              <a:t>128.32.1.4</a:t>
            </a:r>
            <a:r>
              <a:rPr lang="zh-CN" altLang="en-US" sz="2400" dirty="0"/>
              <a:t>与长度为</a:t>
            </a:r>
            <a:r>
              <a:rPr lang="en-US" altLang="zh-CN" sz="2400" dirty="0"/>
              <a:t>24</a:t>
            </a:r>
            <a:r>
              <a:rPr lang="zh-CN" altLang="en-US" sz="2400" dirty="0"/>
              <a:t>的掩码进行“与”运算得到网络部分</a:t>
            </a:r>
            <a:r>
              <a:rPr lang="en-US" altLang="zh-CN" sz="2400" dirty="0"/>
              <a:t>128.32.1.0/24</a:t>
            </a:r>
          </a:p>
          <a:p>
            <a:r>
              <a:rPr lang="zh-CN" altLang="en-US" sz="2400" dirty="0"/>
              <a:t>“</a:t>
            </a:r>
            <a:r>
              <a:rPr lang="en-US" altLang="zh-CN" sz="2400" dirty="0"/>
              <a:t>/24</a:t>
            </a:r>
            <a:r>
              <a:rPr lang="zh-CN" altLang="en-US" sz="2400" dirty="0"/>
              <a:t>”表示该</a:t>
            </a:r>
            <a:r>
              <a:rPr lang="en-US" altLang="zh-CN" sz="2400" dirty="0"/>
              <a:t>IP</a:t>
            </a:r>
            <a:r>
              <a:rPr lang="zh-CN" altLang="en-US" sz="2400" dirty="0"/>
              <a:t>地址前</a:t>
            </a:r>
            <a:r>
              <a:rPr lang="en-US" altLang="zh-CN" sz="2400" dirty="0"/>
              <a:t>24</a:t>
            </a:r>
            <a:r>
              <a:rPr lang="zh-CN" altLang="en-US" sz="2400" dirty="0"/>
              <a:t>位是网络号</a:t>
            </a:r>
          </a:p>
        </p:txBody>
      </p:sp>
    </p:spTree>
    <p:extLst>
      <p:ext uri="{BB962C8B-B14F-4D97-AF65-F5344CB8AC3E}">
        <p14:creationId xmlns:p14="http://schemas.microsoft.com/office/powerpoint/2010/main" val="981317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6475862" y="1970402"/>
            <a:ext cx="1521725" cy="3057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*子网掩码</a:t>
            </a:r>
            <a:r>
              <a:rPr lang="en-US" altLang="zh-CN" dirty="0"/>
              <a:t>——</a:t>
            </a:r>
            <a:r>
              <a:rPr lang="zh-CN" altLang="en-US" dirty="0"/>
              <a:t>主机地址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97039" y="2388356"/>
            <a:ext cx="686482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10000000  00100000  00000001  00001110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897039" y="3250260"/>
            <a:ext cx="686482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00000000  00000000  00000000  11111111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1897039" y="4246546"/>
            <a:ext cx="6864824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10000000  00100000  00000001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/>
              <a:t> 11111111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700962" y="2385154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地址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00962" y="325026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掩码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3426" y="424654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结果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250791" y="2395599"/>
            <a:ext cx="18133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128.32.1.14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9250790" y="3276640"/>
            <a:ext cx="1406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0.0.0.255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9250790" y="4246545"/>
            <a:ext cx="19159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128.32.1.255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1239523" y="5146622"/>
            <a:ext cx="10472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255.255.255.0/24</a:t>
            </a:r>
            <a:r>
              <a:rPr lang="zh-CN" altLang="en-US" sz="2400" dirty="0"/>
              <a:t>的掩码取反后为</a:t>
            </a:r>
            <a:r>
              <a:rPr lang="en-US" altLang="zh-CN" sz="2400" dirty="0"/>
              <a:t>0.0.0.255</a:t>
            </a:r>
            <a:r>
              <a:rPr lang="zh-CN" altLang="en-US" sz="2400" dirty="0"/>
              <a:t>，这将最后</a:t>
            </a:r>
            <a:r>
              <a:rPr lang="en-US" altLang="zh-CN" sz="2400" dirty="0"/>
              <a:t>8</a:t>
            </a:r>
            <a:r>
              <a:rPr lang="zh-CN" altLang="en-US" sz="2400" dirty="0"/>
              <a:t>位设置为</a:t>
            </a:r>
            <a:r>
              <a:rPr lang="en-US" altLang="zh-CN" sz="2400" dirty="0"/>
              <a:t>1</a:t>
            </a:r>
            <a:r>
              <a:rPr lang="zh-CN" altLang="en-US" sz="2400" dirty="0"/>
              <a:t>，与</a:t>
            </a:r>
            <a:r>
              <a:rPr lang="en-US" altLang="zh-CN" sz="2400" dirty="0"/>
              <a:t>IP</a:t>
            </a:r>
            <a:r>
              <a:rPr lang="zh-CN" altLang="en-US" sz="2400" dirty="0"/>
              <a:t>地址进行“或”运算，得到十进制数</a:t>
            </a:r>
            <a:r>
              <a:rPr lang="en-US" altLang="zh-CN" sz="2400" dirty="0"/>
              <a:t>255</a:t>
            </a:r>
            <a:r>
              <a:rPr lang="zh-CN" altLang="en-US" sz="2400" dirty="0"/>
              <a:t>和子网广播地址</a:t>
            </a:r>
            <a:r>
              <a:rPr lang="en-US" altLang="zh-CN" sz="2400" dirty="0"/>
              <a:t>128.32.1.255</a:t>
            </a:r>
            <a:r>
              <a:rPr lang="zh-CN" altLang="en-US" sz="2400" dirty="0"/>
              <a:t>，子网广播地址即主机部分</a:t>
            </a:r>
            <a:endParaRPr lang="zh-CN" altLang="en-US" sz="2400" baseline="-25000" dirty="0"/>
          </a:p>
        </p:txBody>
      </p:sp>
      <p:sp>
        <p:nvSpPr>
          <p:cNvPr id="3" name="矩形 2"/>
          <p:cNvSpPr/>
          <p:nvPr/>
        </p:nvSpPr>
        <p:spPr>
          <a:xfrm>
            <a:off x="4660111" y="6008526"/>
            <a:ext cx="2448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11111111</a:t>
            </a:r>
            <a:r>
              <a:rPr lang="zh-CN" altLang="en-US" dirty="0"/>
              <a:t>）</a:t>
            </a:r>
            <a:r>
              <a:rPr lang="en-US" altLang="zh-CN" baseline="-25000" dirty="0"/>
              <a:t>2</a:t>
            </a:r>
            <a:r>
              <a:rPr lang="en-US" altLang="zh-CN" dirty="0"/>
              <a:t>=255</a:t>
            </a:r>
            <a:r>
              <a:rPr lang="en-US" altLang="zh-CN" baseline="-25000" dirty="0"/>
              <a:t>10</a:t>
            </a:r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747267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默认子网掩码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1649507"/>
              </p:ext>
            </p:extLst>
          </p:nvPr>
        </p:nvGraphicFramePr>
        <p:xfrm>
          <a:off x="888729" y="1909345"/>
          <a:ext cx="10410905" cy="1401864"/>
        </p:xfrm>
        <a:graphic>
          <a:graphicData uri="http://schemas.openxmlformats.org/drawingml/2006/table">
            <a:tbl>
              <a:tblPr/>
              <a:tblGrid>
                <a:gridCol w="264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93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8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A</a:t>
                      </a:r>
                      <a:r>
                        <a:rPr lang="zh-CN" altLang="en-US" sz="2400" b="1" dirty="0">
                          <a:effectLst/>
                        </a:rPr>
                        <a:t>类地址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网络号（</a:t>
                      </a:r>
                      <a:r>
                        <a:rPr lang="en-US" altLang="zh-CN" sz="2400" b="1">
                          <a:effectLst/>
                        </a:rPr>
                        <a:t>8</a:t>
                      </a:r>
                      <a:r>
                        <a:rPr lang="zh-CN" altLang="en-US" sz="2400" b="1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主机号（</a:t>
                      </a:r>
                      <a:r>
                        <a:rPr lang="en-US" altLang="zh-CN" sz="2400" b="1">
                          <a:effectLst/>
                        </a:rPr>
                        <a:t>24</a:t>
                      </a:r>
                      <a:r>
                        <a:rPr lang="zh-CN" altLang="en-US" sz="2400" b="1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effectLst/>
                        </a:rPr>
                        <a:t>默认子网掩码 </a:t>
                      </a:r>
                      <a:r>
                        <a:rPr lang="en-US" altLang="zh-CN" sz="2400" dirty="0">
                          <a:effectLst/>
                        </a:rPr>
                        <a:t>255.0 0.0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11111111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00000000 00000000 00000000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774946"/>
              </p:ext>
            </p:extLst>
          </p:nvPr>
        </p:nvGraphicFramePr>
        <p:xfrm>
          <a:off x="888729" y="3424157"/>
          <a:ext cx="10410906" cy="1401864"/>
        </p:xfrm>
        <a:graphic>
          <a:graphicData uri="http://schemas.openxmlformats.org/drawingml/2006/table">
            <a:tbl>
              <a:tblPr/>
              <a:tblGrid>
                <a:gridCol w="2658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5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6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8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B</a:t>
                      </a:r>
                      <a:r>
                        <a:rPr lang="zh-CN" altLang="en-US" sz="2400" b="1" dirty="0">
                          <a:effectLst/>
                        </a:rPr>
                        <a:t>类地址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网络号（</a:t>
                      </a:r>
                      <a:r>
                        <a:rPr lang="en-US" altLang="zh-CN" sz="2400" b="1">
                          <a:effectLst/>
                        </a:rPr>
                        <a:t>16</a:t>
                      </a:r>
                      <a:r>
                        <a:rPr lang="zh-CN" altLang="en-US" sz="2400" b="1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 dirty="0">
                          <a:effectLst/>
                        </a:rPr>
                        <a:t>主机号（</a:t>
                      </a:r>
                      <a:r>
                        <a:rPr lang="en-US" altLang="zh-CN" sz="2400" b="1" dirty="0">
                          <a:effectLst/>
                        </a:rPr>
                        <a:t>16</a:t>
                      </a:r>
                      <a:r>
                        <a:rPr lang="zh-CN" altLang="en-US" sz="2400" b="1" dirty="0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effectLst/>
                        </a:rPr>
                        <a:t>默认子网掩码</a:t>
                      </a:r>
                      <a:r>
                        <a:rPr lang="en-US" altLang="zh-CN" sz="2400" dirty="0">
                          <a:effectLst/>
                        </a:rPr>
                        <a:t>255.255.0.0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11111111 11111111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00000000 00000000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9335935"/>
              </p:ext>
            </p:extLst>
          </p:nvPr>
        </p:nvGraphicFramePr>
        <p:xfrm>
          <a:off x="888729" y="5028623"/>
          <a:ext cx="10410906" cy="1401864"/>
        </p:xfrm>
        <a:graphic>
          <a:graphicData uri="http://schemas.openxmlformats.org/drawingml/2006/table">
            <a:tbl>
              <a:tblPr/>
              <a:tblGrid>
                <a:gridCol w="2669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84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6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080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effectLst/>
                        </a:rPr>
                        <a:t>C</a:t>
                      </a:r>
                      <a:r>
                        <a:rPr lang="zh-CN" altLang="en-US" sz="2400" b="1" dirty="0">
                          <a:effectLst/>
                        </a:rPr>
                        <a:t>类地址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网络号（</a:t>
                      </a:r>
                      <a:r>
                        <a:rPr lang="en-US" altLang="zh-CN" sz="2400" b="1">
                          <a:effectLst/>
                        </a:rPr>
                        <a:t>24</a:t>
                      </a:r>
                      <a:r>
                        <a:rPr lang="zh-CN" altLang="en-US" sz="2400" b="1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b="1">
                          <a:effectLst/>
                        </a:rPr>
                        <a:t>主机号（</a:t>
                      </a:r>
                      <a:r>
                        <a:rPr lang="en-US" altLang="zh-CN" sz="2400" b="1">
                          <a:effectLst/>
                        </a:rPr>
                        <a:t>8</a:t>
                      </a:r>
                      <a:r>
                        <a:rPr lang="zh-CN" altLang="en-US" sz="2400" b="1">
                          <a:effectLst/>
                        </a:rPr>
                        <a:t>位）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784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effectLst/>
                        </a:rPr>
                        <a:t>默认子网掩码</a:t>
                      </a:r>
                      <a:r>
                        <a:rPr lang="en-US" altLang="zh-CN" sz="2400" dirty="0">
                          <a:effectLst/>
                        </a:rPr>
                        <a:t>255.255.255.0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11111111 11111111 11111111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dirty="0">
                          <a:effectLst/>
                        </a:rPr>
                        <a:t>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023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*常见子网掩码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87400"/>
              </p:ext>
            </p:extLst>
          </p:nvPr>
        </p:nvGraphicFramePr>
        <p:xfrm>
          <a:off x="1024128" y="2866272"/>
          <a:ext cx="10546212" cy="2164080"/>
        </p:xfrm>
        <a:graphic>
          <a:graphicData uri="http://schemas.openxmlformats.org/drawingml/2006/table">
            <a:tbl>
              <a:tblPr/>
              <a:tblGrid>
                <a:gridCol w="3264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 dirty="0">
                          <a:effectLst/>
                        </a:rPr>
                        <a:t>点分十进制表示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800" b="1">
                          <a:effectLst/>
                        </a:rPr>
                        <a:t>二进制表示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255.192.0.0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11111111 11000000 00000000 00000000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255.255.254.0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11111111 11111111 11111110 00000000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>
                          <a:effectLst/>
                        </a:rPr>
                        <a:t>255.255.255.128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800" dirty="0">
                          <a:effectLst/>
                        </a:rPr>
                        <a:t>11111111 11111111 11111111 10000000</a:t>
                      </a:r>
                    </a:p>
                  </a:txBody>
                  <a:tcPr marL="123825" marR="123825" marT="57150" marB="571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430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en-US" altLang="zh-CN" sz="2800" dirty="0"/>
              <a:t>v</a:t>
            </a:r>
            <a:r>
              <a:rPr lang="en-US" altLang="zh-CN" dirty="0"/>
              <a:t>4  vs IP</a:t>
            </a:r>
            <a:r>
              <a:rPr lang="en-US" altLang="zh-CN" sz="3200" dirty="0"/>
              <a:t>v</a:t>
            </a:r>
            <a:r>
              <a:rPr lang="en-US" altLang="zh-CN" dirty="0"/>
              <a:t>6</a:t>
            </a:r>
            <a:endParaRPr lang="zh-CN" altLang="en-US" baseline="-25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824" y="1988544"/>
            <a:ext cx="9720073" cy="4023360"/>
          </a:xfrm>
        </p:spPr>
        <p:txBody>
          <a:bodyPr/>
          <a:lstStyle/>
          <a:p>
            <a:r>
              <a:rPr lang="en-US" altLang="zh-CN" dirty="0"/>
              <a:t>IPv4</a:t>
            </a:r>
            <a:r>
              <a:rPr lang="zh-CN" altLang="en-US" dirty="0"/>
              <a:t>由</a:t>
            </a:r>
            <a:r>
              <a:rPr lang="en-US" altLang="zh-CN" dirty="0"/>
              <a:t>IANA(The Internet Assigned Numbers Authority</a:t>
            </a:r>
            <a:r>
              <a:rPr lang="zh-CN" altLang="en-US" dirty="0"/>
              <a:t>，互联网数字分配机构</a:t>
            </a:r>
            <a:r>
              <a:rPr lang="en-US" altLang="zh-CN" dirty="0"/>
              <a:t>)</a:t>
            </a:r>
            <a:r>
              <a:rPr lang="zh-CN" altLang="en-US" dirty="0"/>
              <a:t>进行全球分配</a:t>
            </a:r>
            <a:endParaRPr lang="en-US" altLang="zh-CN" dirty="0"/>
          </a:p>
          <a:p>
            <a:r>
              <a:rPr lang="en-US" altLang="zh-CN" dirty="0"/>
              <a:t>IPv4</a:t>
            </a:r>
            <a:r>
              <a:rPr lang="zh-CN" altLang="en-US" dirty="0"/>
              <a:t>弊端：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类网络太大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类主机数量太小</a:t>
            </a:r>
            <a:endParaRPr lang="en-US" altLang="zh-CN" dirty="0"/>
          </a:p>
          <a:p>
            <a:pPr lvl="1"/>
            <a:r>
              <a:rPr lang="zh-CN" altLang="en-US" dirty="0"/>
              <a:t>总数量有限</a:t>
            </a:r>
            <a:endParaRPr lang="en-US" altLang="zh-CN" dirty="0"/>
          </a:p>
          <a:p>
            <a:pPr lvl="1"/>
            <a:r>
              <a:rPr lang="en-US" altLang="zh-CN" dirty="0"/>
              <a:t>2011</a:t>
            </a:r>
            <a:r>
              <a:rPr lang="zh-CN" altLang="en-US" dirty="0"/>
              <a:t>年</a:t>
            </a:r>
            <a:r>
              <a:rPr lang="en-US" altLang="zh-CN" dirty="0"/>
              <a:t>2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日，</a:t>
            </a:r>
            <a:r>
              <a:rPr lang="en-US" altLang="zh-CN" dirty="0"/>
              <a:t>IPv4</a:t>
            </a:r>
            <a:r>
              <a:rPr lang="zh-CN" altLang="en-US" dirty="0"/>
              <a:t>地址已经全部分配完毕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973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en-US" altLang="zh-CN" sz="2800" dirty="0"/>
              <a:t>v</a:t>
            </a:r>
            <a:r>
              <a:rPr lang="en-US" altLang="zh-CN" dirty="0"/>
              <a:t>4  vs IP</a:t>
            </a:r>
            <a:r>
              <a:rPr lang="en-US" altLang="zh-CN" sz="3200" dirty="0"/>
              <a:t>v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9550" y="2274983"/>
            <a:ext cx="9720073" cy="4023360"/>
          </a:xfrm>
        </p:spPr>
        <p:txBody>
          <a:bodyPr/>
          <a:lstStyle/>
          <a:p>
            <a:r>
              <a:rPr lang="en-US" altLang="zh-CN" dirty="0"/>
              <a:t>IPv4</a:t>
            </a:r>
            <a:r>
              <a:rPr lang="zh-CN" altLang="en-US" dirty="0"/>
              <a:t>：有</a:t>
            </a:r>
            <a:r>
              <a:rPr lang="en-US" altLang="zh-CN" dirty="0"/>
              <a:t>4294967296</a:t>
            </a:r>
            <a:r>
              <a:rPr lang="zh-CN" altLang="en-US" dirty="0"/>
              <a:t>个可能地址</a:t>
            </a:r>
            <a:endParaRPr lang="en-US" altLang="zh-CN" dirty="0"/>
          </a:p>
          <a:p>
            <a:r>
              <a:rPr lang="en-US" altLang="zh-CN" dirty="0"/>
              <a:t>IPv6</a:t>
            </a:r>
            <a:r>
              <a:rPr lang="zh-CN" altLang="en-US" dirty="0"/>
              <a:t>：</a:t>
            </a:r>
            <a:r>
              <a:rPr lang="en-US" altLang="zh-CN" dirty="0"/>
              <a:t>340282366920938463463374607431768211456</a:t>
            </a:r>
          </a:p>
          <a:p>
            <a:r>
              <a:rPr lang="zh-CN" altLang="en-US" dirty="0"/>
              <a:t>地球上每一粒沙子都有一个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1471802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积分">
  <a:themeElements>
    <a:clrScheme name="积分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积分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积分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898</TotalTime>
  <Words>824</Words>
  <Application>Microsoft Office PowerPoint</Application>
  <PresentationFormat>宽屏</PresentationFormat>
  <Paragraphs>210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Arial</vt:lpstr>
      <vt:lpstr>Tw Cen MT</vt:lpstr>
      <vt:lpstr>Tw Cen MT Condensed</vt:lpstr>
      <vt:lpstr>Wingdings 3</vt:lpstr>
      <vt:lpstr>积分</vt:lpstr>
      <vt:lpstr>IP地址简介</vt:lpstr>
      <vt:lpstr>什么是IP地址</vt:lpstr>
      <vt:lpstr>IP地址表示方法</vt:lpstr>
      <vt:lpstr>IP地址结构</vt:lpstr>
      <vt:lpstr>IP分类寻址</vt:lpstr>
      <vt:lpstr>IP地址范围</vt:lpstr>
      <vt:lpstr>IP地址分类</vt:lpstr>
      <vt:lpstr>IP地址类型判断</vt:lpstr>
      <vt:lpstr>以下IP地址属于哪类地址</vt:lpstr>
      <vt:lpstr>单播地址</vt:lpstr>
      <vt:lpstr>子网寻址与划分</vt:lpstr>
      <vt:lpstr>*子网掩码——网络地址</vt:lpstr>
      <vt:lpstr>*子网掩码——主机地址</vt:lpstr>
      <vt:lpstr>默认子网掩码</vt:lpstr>
      <vt:lpstr>*常见子网掩码</vt:lpstr>
      <vt:lpstr>IPv4  vs IPv6</vt:lpstr>
      <vt:lpstr>IPv4  vs IPv6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网络技术应用</dc:title>
  <dc:creator>lenovo</dc:creator>
  <cp:lastModifiedBy>wenqian zhang</cp:lastModifiedBy>
  <cp:revision>39</cp:revision>
  <dcterms:created xsi:type="dcterms:W3CDTF">2018-03-30T01:55:13Z</dcterms:created>
  <dcterms:modified xsi:type="dcterms:W3CDTF">2019-03-12T02:56:46Z</dcterms:modified>
</cp:coreProperties>
</file>
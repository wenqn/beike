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1"/>
  </p:notesMasterIdLst>
  <p:sldIdLst>
    <p:sldId id="256" r:id="rId2"/>
    <p:sldId id="270" r:id="rId3"/>
    <p:sldId id="263" r:id="rId4"/>
    <p:sldId id="264" r:id="rId5"/>
    <p:sldId id="266" r:id="rId6"/>
    <p:sldId id="265" r:id="rId7"/>
    <p:sldId id="257" r:id="rId8"/>
    <p:sldId id="258" r:id="rId9"/>
    <p:sldId id="271" r:id="rId10"/>
    <p:sldId id="259" r:id="rId11"/>
    <p:sldId id="260" r:id="rId12"/>
    <p:sldId id="269" r:id="rId13"/>
    <p:sldId id="261" r:id="rId14"/>
    <p:sldId id="268" r:id="rId15"/>
    <p:sldId id="267" r:id="rId16"/>
    <p:sldId id="262" r:id="rId17"/>
    <p:sldId id="272" r:id="rId18"/>
    <p:sldId id="273" r:id="rId19"/>
    <p:sldId id="274" r:id="rId20"/>
    <p:sldId id="350" r:id="rId21"/>
    <p:sldId id="275" r:id="rId22"/>
    <p:sldId id="276" r:id="rId23"/>
    <p:sldId id="347" r:id="rId24"/>
    <p:sldId id="348" r:id="rId25"/>
    <p:sldId id="349" r:id="rId26"/>
    <p:sldId id="343" r:id="rId27"/>
    <p:sldId id="344" r:id="rId28"/>
    <p:sldId id="345" r:id="rId29"/>
    <p:sldId id="346" r:id="rId30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398262-57BF-40F1-A797-F11186BB709A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69C8E-DB55-43FD-9C50-070AE01FA0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463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1ED92-AE51-3048-0B13-52F97EF0F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3168B9-A6DA-9D80-5578-909843644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A0985-E6E5-FB32-6D8C-F15D9AF44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13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B775E-CC4E-8BCF-F453-87817BC51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C77A0-89AB-FAF3-1274-72F1DE3A6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25714-7555-F7BE-9DE5-F8EB14B87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33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4D664-F1B3-D5E3-0494-2198E24C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71F36-54B2-4323-1D5C-36A93CE9F9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2053A-27FB-0CF3-143D-7C39AD923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5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A3BFF-6E15-44F5-6BFA-70B384109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27484F-2747-75AF-43F7-724E93D5D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2178DD-5AF0-6072-BF1A-410CAE985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5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B031394-9DAD-498C-91EA-482515B8DA5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24417" y="1916114"/>
            <a:ext cx="10363200" cy="1470025"/>
          </a:xfrm>
        </p:spPr>
        <p:txBody>
          <a:bodyPr/>
          <a:lstStyle>
            <a:lvl1pPr>
              <a:defRPr sz="4400">
                <a:effectLst>
                  <a:outerShdw blurRad="38100" dist="38100" dir="2700000" algn="tl">
                    <a:srgbClr val="C0C0C0"/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zh-CN" noProof="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4C56CFD-FB91-4F7B-A9EA-A99F9FA5A1B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38817" y="3860801"/>
            <a:ext cx="8534400" cy="792163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zh-CN" noProof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4945B622-062D-4F1B-AE52-4E06A23944E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67BEAFA2-CAA1-48F1-9969-10DD0FF1D214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63D80295-C64A-4E9C-95BC-571767E6A4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254E4DB2-593A-4420-B953-697C2EB6A2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4C21C9CE-5343-4B43-8BB6-D680CDCAC2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287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0DD19A-99A1-4BB1-ACE3-52D122D95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AD24D0-BF2A-4133-8D1A-52673DF29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B37A91-1250-4D49-83AD-47A8B4ACD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BEAFA2-CAA1-48F1-9969-10DD0FF1D214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CB42C7-0881-482D-9A2A-1343F6410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43D573-5B11-4D15-904B-A73E30F9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21C9CE-5343-4B43-8BB6-D680CDCAC2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29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4AA7D4-4F14-4416-9487-4F8F83BA2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992999-1D83-4CA1-86CB-8767D3C48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4562476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BA3FCF-5DFB-493B-8AE9-03350C713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BEAFA2-CAA1-48F1-9969-10DD0FF1D214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AB21BA-56A3-41BA-B36C-06835F07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FE9138-36FF-4401-A247-0F8B7730B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21C9CE-5343-4B43-8BB6-D680CDCAC2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933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23F83-8EA3-4DE3-8F99-B3F9049E6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6767B1-06E2-427E-BE70-096BAC8931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268413"/>
            <a:ext cx="5384800" cy="45259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A72DCA-6F8D-475E-B8DC-16D558DEC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268413"/>
            <a:ext cx="5384800" cy="45259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2F1E89-5AA7-433F-8AC9-773080166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BEAFA2-CAA1-48F1-9969-10DD0FF1D214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ACC3AB-BFFA-4DED-AACD-0CB14F082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849D74-3D70-4A68-B351-F8CA840FD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21C9CE-5343-4B43-8BB6-D680CDCAC2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03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EE0F2B-4A57-4C47-84F0-CAEE80A4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3EC030-0D11-4903-84EC-AE9E73AC1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DBEFAE-8304-443D-9AD7-65E460EB7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980BBA-CECD-41F8-89E1-ADFFCE01B5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374DC3E-1EAD-4547-A90E-33FB776326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33FBCE1-08B8-47B6-8CDB-F20E52017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BEAFA2-CAA1-48F1-9969-10DD0FF1D214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F8AE58A-58B1-415A-8A55-54914BBA4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BB6DDDC-6A38-4B6D-B5AF-0803AF2B1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21C9CE-5343-4B43-8BB6-D680CDCAC2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56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6370F-BF1C-4032-980D-23CDD6A92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0E2DD8-F1E2-4F39-89AD-120C3C001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BEAFA2-CAA1-48F1-9969-10DD0FF1D214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D9895E-0BBD-4488-9C27-8DB437EBF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708B3C8-7CC0-4A5E-B81B-57A52A397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21C9CE-5343-4B43-8BB6-D680CDCAC2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32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4A202F-F772-4CF5-9A04-53C4B7C3C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BEAFA2-CAA1-48F1-9969-10DD0FF1D214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63DEA01-24E2-4FAE-9634-048AF1ECA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6E9291-92BD-4694-B554-4138F9E5B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21C9CE-5343-4B43-8BB6-D680CDCAC2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105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FBFD2E-2B47-480E-B892-F87276CF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C00A2B-AB40-4031-9C71-F745519BF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0D7B43-289F-4019-B7E4-E530E4774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216538-8F93-4482-976B-806AC154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BEAFA2-CAA1-48F1-9969-10DD0FF1D214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BB298E-F852-4E42-A851-4A052F70A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306F4F-1432-4290-8F31-AD29257D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21C9CE-5343-4B43-8BB6-D680CDCAC2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7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99010B-C357-49C4-80C0-6F628FDE1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869E49-3CB5-4FC5-AAEC-DDAAA5CA5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B3DADD-9647-411B-B1A4-4F1ED3AF2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4B6B27-98FF-49E3-A206-9259FBBC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BEAFA2-CAA1-48F1-9969-10DD0FF1D214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D1F49D-1559-484C-80DD-F9637FE14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BC1B04-9AE6-4106-BAF5-A6BC4052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21C9CE-5343-4B43-8BB6-D680CDCAC2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895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A51E49-4A3B-4FCB-AABC-535B19386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73F4AB-E1E8-4084-9CA9-0C7F7A342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DE517A-3654-4DFD-AA9F-59CF27574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BEAFA2-CAA1-48F1-9969-10DD0FF1D214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3B0248-935B-4ED1-84DE-254496808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FAD76F-DCC0-49B6-AE0D-487911825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21C9CE-5343-4B43-8BB6-D680CDCAC2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531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FEAE74-6450-4824-B103-E98BC638AB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9200" y="117475"/>
            <a:ext cx="2743200" cy="56769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23B46D-4F5E-41E5-8B32-30F7D74A8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117475"/>
            <a:ext cx="8026400" cy="56769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17BF77-FEBD-4DC5-91DC-B943B94CE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7BEAFA2-CAA1-48F1-9969-10DD0FF1D214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AAA3B2-E4FE-4D47-8681-1A6D322BC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770A8A-3CE3-42A1-BF00-E02168C5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21C9CE-5343-4B43-8BB6-D680CDCAC2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940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ffice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图形"/>
          <p:cNvGrpSpPr/>
          <p:nvPr userDrawn="1"/>
        </p:nvGrpSpPr>
        <p:grpSpPr>
          <a:xfrm flipH="1">
            <a:off x="10770330" y="285971"/>
            <a:ext cx="1088141" cy="442765"/>
            <a:chOff x="465530" y="2231777"/>
            <a:chExt cx="1116082" cy="453862"/>
          </a:xfr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87000">
                <a:srgbClr val="504B45"/>
              </a:gs>
            </a:gsLst>
            <a:lin ang="10200000" scaled="0"/>
          </a:gradFill>
        </p:grpSpPr>
        <p:grpSp>
          <p:nvGrpSpPr>
            <p:cNvPr id="48" name="组合 47"/>
            <p:cNvGrpSpPr/>
            <p:nvPr/>
          </p:nvGrpSpPr>
          <p:grpSpPr>
            <a:xfrm rot="5400000">
              <a:off x="492855" y="2204452"/>
              <a:ext cx="453861" cy="508512"/>
              <a:chOff x="5060248" y="5003801"/>
              <a:chExt cx="515926" cy="578050"/>
            </a:xfrm>
            <a:grpFill/>
          </p:grpSpPr>
          <p:grpSp>
            <p:nvGrpSpPr>
              <p:cNvPr id="201" name="组合 200"/>
              <p:cNvGrpSpPr/>
              <p:nvPr/>
            </p:nvGrpSpPr>
            <p:grpSpPr>
              <a:xfrm rot="16200000" flipH="1">
                <a:off x="5197236" y="48668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13" name="组合 212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19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0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1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22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14" name="组合 213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15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6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7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8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  <p:grpSp>
            <p:nvGrpSpPr>
              <p:cNvPr id="202" name="组合 201"/>
              <p:cNvGrpSpPr/>
              <p:nvPr/>
            </p:nvGrpSpPr>
            <p:grpSpPr>
              <a:xfrm rot="16200000" flipH="1">
                <a:off x="5197236" y="52029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203" name="组合 202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09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0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1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12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204" name="组合 203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205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6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7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8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</p:grpSp>
        <p:grpSp>
          <p:nvGrpSpPr>
            <p:cNvPr id="49" name="组合 48"/>
            <p:cNvGrpSpPr/>
            <p:nvPr/>
          </p:nvGrpSpPr>
          <p:grpSpPr>
            <a:xfrm rot="5400000">
              <a:off x="1100425" y="2204453"/>
              <a:ext cx="453861" cy="508512"/>
              <a:chOff x="5060248" y="5003801"/>
              <a:chExt cx="515926" cy="578050"/>
            </a:xfrm>
            <a:grpFill/>
          </p:grpSpPr>
          <p:grpSp>
            <p:nvGrpSpPr>
              <p:cNvPr id="50" name="组合 49"/>
              <p:cNvGrpSpPr/>
              <p:nvPr/>
            </p:nvGrpSpPr>
            <p:grpSpPr>
              <a:xfrm rot="16200000" flipH="1">
                <a:off x="5197236" y="48668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197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8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9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200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63" name="组合 62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192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3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4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196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  <p:grpSp>
            <p:nvGrpSpPr>
              <p:cNvPr id="51" name="组合 50"/>
              <p:cNvGrpSpPr/>
              <p:nvPr/>
            </p:nvGrpSpPr>
            <p:grpSpPr>
              <a:xfrm rot="16200000" flipH="1">
                <a:off x="5197236" y="5202913"/>
                <a:ext cx="241950" cy="515926"/>
                <a:chOff x="1724433" y="1612606"/>
                <a:chExt cx="241950" cy="515926"/>
              </a:xfrm>
              <a:grpFill/>
            </p:grpSpPr>
            <p:grpSp>
              <p:nvGrpSpPr>
                <p:cNvPr id="52" name="组合 51"/>
                <p:cNvGrpSpPr/>
                <p:nvPr/>
              </p:nvGrpSpPr>
              <p:grpSpPr>
                <a:xfrm>
                  <a:off x="1898681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58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9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60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61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  <p:grpSp>
              <p:nvGrpSpPr>
                <p:cNvPr id="53" name="组合 52"/>
                <p:cNvGrpSpPr/>
                <p:nvPr/>
              </p:nvGrpSpPr>
              <p:grpSpPr>
                <a:xfrm>
                  <a:off x="1724433" y="1612606"/>
                  <a:ext cx="67702" cy="515926"/>
                  <a:chOff x="2041334" y="1597820"/>
                  <a:chExt cx="67702" cy="515926"/>
                </a:xfrm>
                <a:grpFill/>
              </p:grpSpPr>
              <p:sp>
                <p:nvSpPr>
                  <p:cNvPr id="54" name="图形"/>
                  <p:cNvSpPr/>
                  <p:nvPr/>
                </p:nvSpPr>
                <p:spPr>
                  <a:xfrm>
                    <a:off x="2041334" y="1597820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5" name="图形"/>
                  <p:cNvSpPr/>
                  <p:nvPr/>
                </p:nvSpPr>
                <p:spPr>
                  <a:xfrm>
                    <a:off x="2041334" y="1747228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6" name="图形"/>
                  <p:cNvSpPr/>
                  <p:nvPr/>
                </p:nvSpPr>
                <p:spPr>
                  <a:xfrm>
                    <a:off x="2041334" y="1896636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  <p:sp>
                <p:nvSpPr>
                  <p:cNvPr id="57" name="图形"/>
                  <p:cNvSpPr/>
                  <p:nvPr/>
                </p:nvSpPr>
                <p:spPr>
                  <a:xfrm>
                    <a:off x="2041334" y="2046044"/>
                    <a:ext cx="67702" cy="67702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方正仿宋_GB2312" panose="02000000000000000000" charset="-122"/>
                      <a:sym typeface="方正仿宋_GB2312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86480026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E36CD1A-BA35-49BB-89EF-37F5BE312F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17476"/>
            <a:ext cx="10972800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9E53E86-C816-4CF1-96F8-D3AD0887DF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68413"/>
            <a:ext cx="109728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21E77D9-8AC9-4932-9B19-D46669316C1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67BEAFA2-CAA1-48F1-9969-10DD0FF1D214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86F7A3A-3DEB-4DD0-BCA1-466FBA5A6D4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zh-CN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C6D1FA-5C8E-4FE1-B071-20278F97F5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C21C9CE-5343-4B43-8BB6-D680CDCAC2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517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ert.org.cn/publish/main/44/2025/20250924195721589194997/20250924195721589194997_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baidu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baidu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6" Type="http://schemas.openxmlformats.org/officeDocument/2006/relationships/image" Target="../media/image23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25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42DF19-99EF-4BAC-A050-9D18A8983E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体验另一种互联网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14D7300-0B23-4CC1-A77D-B6C3999FEA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8817" y="3860801"/>
            <a:ext cx="8534400" cy="2195442"/>
          </a:xfrm>
        </p:spPr>
        <p:txBody>
          <a:bodyPr/>
          <a:lstStyle/>
          <a:p>
            <a:r>
              <a:rPr lang="zh-CN" altLang="en-US" dirty="0"/>
              <a:t>网络技术基础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淄博五中</a:t>
            </a:r>
            <a:r>
              <a:rPr lang="en-US" altLang="zh-CN" dirty="0"/>
              <a:t>  </a:t>
            </a:r>
            <a:r>
              <a:rPr lang="zh-CN" altLang="en-US" dirty="0"/>
              <a:t>信息中心</a:t>
            </a:r>
          </a:p>
        </p:txBody>
      </p:sp>
    </p:spTree>
    <p:extLst>
      <p:ext uri="{BB962C8B-B14F-4D97-AF65-F5344CB8AC3E}">
        <p14:creationId xmlns:p14="http://schemas.microsoft.com/office/powerpoint/2010/main" val="1812030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BDC20-BF99-D7DC-86E2-D0AA550B4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3A70FC-3FC3-A397-F2B0-6E65A808F0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第一课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A5D8A6-716E-2845-5714-4CD53BDA9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8817" y="3860801"/>
            <a:ext cx="8534400" cy="2195442"/>
          </a:xfrm>
        </p:spPr>
        <p:txBody>
          <a:bodyPr/>
          <a:lstStyle/>
          <a:p>
            <a:r>
              <a:rPr lang="zh-CN" altLang="en-US" dirty="0"/>
              <a:t>协议、域名、</a:t>
            </a:r>
            <a:r>
              <a:rPr lang="en-US" altLang="zh-CN" dirty="0"/>
              <a:t>ping</a:t>
            </a:r>
            <a:r>
              <a:rPr lang="zh-CN" altLang="en-US" dirty="0"/>
              <a:t>命令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淄博五中</a:t>
            </a:r>
            <a:r>
              <a:rPr lang="en-US" altLang="zh-CN" dirty="0"/>
              <a:t>  </a:t>
            </a:r>
            <a:r>
              <a:rPr lang="zh-CN" altLang="en-US" dirty="0"/>
              <a:t>信息中心</a:t>
            </a:r>
          </a:p>
        </p:txBody>
      </p:sp>
    </p:spTree>
    <p:extLst>
      <p:ext uri="{BB962C8B-B14F-4D97-AF65-F5344CB8AC3E}">
        <p14:creationId xmlns:p14="http://schemas.microsoft.com/office/powerpoint/2010/main" val="148313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C64C9F-B574-F831-BBFE-D0112A71E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BC628C-A1DC-93F2-9257-4B52A8A79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085924"/>
            <a:ext cx="10972800" cy="91034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dirty="0">
                <a:solidFill>
                  <a:srgbClr val="FFC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</a:t>
            </a:r>
            <a:r>
              <a:rPr lang="en-US" altLang="zh-CN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</a:t>
            </a:r>
            <a:r>
              <a:rPr lang="en-US" altLang="zh-CN" dirty="0">
                <a:solidFill>
                  <a:srgbClr val="009999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.cert.org.cn/</a:t>
            </a:r>
            <a:r>
              <a:rPr lang="en-US" altLang="zh-CN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publish/main/44/2025/20250924195721589194997/20250924195721589194997_.html</a:t>
            </a:r>
            <a:endParaRPr lang="zh-CN" altLang="en-US" dirty="0"/>
          </a:p>
        </p:txBody>
      </p:sp>
      <p:sp>
        <p:nvSpPr>
          <p:cNvPr id="4" name="对话气泡: 矩形 3">
            <a:extLst>
              <a:ext uri="{FF2B5EF4-FFF2-40B4-BE49-F238E27FC236}">
                <a16:creationId xmlns:a16="http://schemas.microsoft.com/office/drawing/2014/main" id="{841F41EF-77D3-B91C-63FB-F911E4A2A697}"/>
              </a:ext>
            </a:extLst>
          </p:cNvPr>
          <p:cNvSpPr/>
          <p:nvPr/>
        </p:nvSpPr>
        <p:spPr>
          <a:xfrm>
            <a:off x="530579" y="1372836"/>
            <a:ext cx="1896534" cy="474133"/>
          </a:xfrm>
          <a:prstGeom prst="wedgeRectCallout">
            <a:avLst>
              <a:gd name="adj1" fmla="val -23718"/>
              <a:gd name="adj2" fmla="val 24583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超文本传输协议</a:t>
            </a: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0CC312D7-2B3F-85F5-73AC-4BA635A8F97E}"/>
              </a:ext>
            </a:extLst>
          </p:cNvPr>
          <p:cNvSpPr/>
          <p:nvPr/>
        </p:nvSpPr>
        <p:spPr>
          <a:xfrm>
            <a:off x="1478846" y="2000383"/>
            <a:ext cx="1896534" cy="329407"/>
          </a:xfrm>
          <a:prstGeom prst="wedgeRectCallout">
            <a:avLst>
              <a:gd name="adj1" fmla="val -22528"/>
              <a:gd name="adj2" fmla="val 19345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C000"/>
                </a:solidFill>
              </a:rPr>
              <a:t>分隔符</a:t>
            </a:r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1F4EABC3-BEA1-C69E-1228-0E00181A2915}"/>
              </a:ext>
            </a:extLst>
          </p:cNvPr>
          <p:cNvSpPr/>
          <p:nvPr/>
        </p:nvSpPr>
        <p:spPr>
          <a:xfrm>
            <a:off x="4470402" y="2341079"/>
            <a:ext cx="1896534" cy="329407"/>
          </a:xfrm>
          <a:prstGeom prst="wedgeRectCallout">
            <a:avLst>
              <a:gd name="adj1" fmla="val -22528"/>
              <a:gd name="adj2" fmla="val 19345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50"/>
                </a:solidFill>
              </a:rPr>
              <a:t>域名</a:t>
            </a:r>
          </a:p>
        </p:txBody>
      </p:sp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7E102C4C-FA88-D62C-6AD9-3EDA1AE3901E}"/>
              </a:ext>
            </a:extLst>
          </p:cNvPr>
          <p:cNvSpPr/>
          <p:nvPr/>
        </p:nvSpPr>
        <p:spPr>
          <a:xfrm>
            <a:off x="2427113" y="2538745"/>
            <a:ext cx="1896534" cy="329407"/>
          </a:xfrm>
          <a:prstGeom prst="wedgeRectCallout">
            <a:avLst>
              <a:gd name="adj1" fmla="val -37409"/>
              <a:gd name="adj2" fmla="val 15918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F0"/>
                </a:solidFill>
              </a:rPr>
              <a:t>万维网</a:t>
            </a:r>
          </a:p>
        </p:txBody>
      </p:sp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C8804110-7730-5A05-A150-B94E3EF6F1DA}"/>
              </a:ext>
            </a:extLst>
          </p:cNvPr>
          <p:cNvSpPr/>
          <p:nvPr/>
        </p:nvSpPr>
        <p:spPr>
          <a:xfrm>
            <a:off x="7620002" y="2301743"/>
            <a:ext cx="2460976" cy="329407"/>
          </a:xfrm>
          <a:prstGeom prst="wedgeRectCallout">
            <a:avLst>
              <a:gd name="adj1" fmla="val -22528"/>
              <a:gd name="adj2" fmla="val 19345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服务器上的页面地址</a:t>
            </a:r>
          </a:p>
        </p:txBody>
      </p:sp>
    </p:spTree>
    <p:extLst>
      <p:ext uri="{BB962C8B-B14F-4D97-AF65-F5344CB8AC3E}">
        <p14:creationId xmlns:p14="http://schemas.microsoft.com/office/powerpoint/2010/main" val="857362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BEA75-0643-DA1A-2650-9F9A6F3C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网络协议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9E05438-D742-6503-EC13-6A3DFA011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326786"/>
              </p:ext>
            </p:extLst>
          </p:nvPr>
        </p:nvGraphicFramePr>
        <p:xfrm>
          <a:off x="1083732" y="1453444"/>
          <a:ext cx="9403644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911">
                  <a:extLst>
                    <a:ext uri="{9D8B030D-6E8A-4147-A177-3AD203B41FA5}">
                      <a16:colId xmlns:a16="http://schemas.microsoft.com/office/drawing/2014/main" val="4254040466"/>
                    </a:ext>
                  </a:extLst>
                </a:gridCol>
                <a:gridCol w="3944306">
                  <a:extLst>
                    <a:ext uri="{9D8B030D-6E8A-4147-A177-3AD203B41FA5}">
                      <a16:colId xmlns:a16="http://schemas.microsoft.com/office/drawing/2014/main" val="504289297"/>
                    </a:ext>
                  </a:extLst>
                </a:gridCol>
                <a:gridCol w="1619516">
                  <a:extLst>
                    <a:ext uri="{9D8B030D-6E8A-4147-A177-3AD203B41FA5}">
                      <a16:colId xmlns:a16="http://schemas.microsoft.com/office/drawing/2014/main" val="3524203969"/>
                    </a:ext>
                  </a:extLst>
                </a:gridCol>
                <a:gridCol w="2350911">
                  <a:extLst>
                    <a:ext uri="{9D8B030D-6E8A-4147-A177-3AD203B41FA5}">
                      <a16:colId xmlns:a16="http://schemas.microsoft.com/office/drawing/2014/main" val="288251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协议名称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全称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中文名称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功能作用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97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http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Hypertext Transfer Protocol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超文本传输协议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网页（账号密码明文传输）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119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https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HypertestTransfer</a:t>
                      </a:r>
                      <a:r>
                        <a:rPr lang="en-US" altLang="zh-CN" dirty="0"/>
                        <a:t> Protocol Secure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安全的超文本传输协议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网页（账号密码加密传输）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269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mailto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Mail to Procol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电子邮件登录协议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客户端登录邮箱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288393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altLang="zh-CN" dirty="0"/>
                        <a:t>ftp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FileTransfer Protocol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文件传输协议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传输文件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51660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dns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Domain Name System Protocol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域名系统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域名转换为</a:t>
                      </a:r>
                      <a:r>
                        <a:rPr lang="en-US" altLang="zh-CN" dirty="0"/>
                        <a:t>IP</a:t>
                      </a:r>
                      <a:r>
                        <a:rPr lang="zh-CN" altLang="en-US" dirty="0"/>
                        <a:t>地址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534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5370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7D9F4-6048-4DFE-8105-E1334B539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常见域名及后缀</a:t>
            </a:r>
          </a:p>
        </p:txBody>
      </p:sp>
      <p:graphicFrame>
        <p:nvGraphicFramePr>
          <p:cNvPr id="4" name="表格 6">
            <a:extLst>
              <a:ext uri="{FF2B5EF4-FFF2-40B4-BE49-F238E27FC236}">
                <a16:creationId xmlns:a16="http://schemas.microsoft.com/office/drawing/2014/main" id="{68A0B9F3-69BF-4486-BD25-DEAC75021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991366"/>
              </p:ext>
            </p:extLst>
          </p:nvPr>
        </p:nvGraphicFramePr>
        <p:xfrm>
          <a:off x="4249967" y="2081107"/>
          <a:ext cx="6096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15892219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647399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常见域名后缀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含义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63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中国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4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com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公司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892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gov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政府机构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820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org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非盈利组织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552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hk</a:t>
                      </a:r>
                      <a:r>
                        <a:rPr lang="en-US" altLang="zh-CN" dirty="0"/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香港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469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us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美国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418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net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网络组织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433257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DA494DA4-2B20-4BDD-B681-7A3ECB5D585E}"/>
              </a:ext>
            </a:extLst>
          </p:cNvPr>
          <p:cNvSpPr/>
          <p:nvPr/>
        </p:nvSpPr>
        <p:spPr>
          <a:xfrm>
            <a:off x="785046" y="1434776"/>
            <a:ext cx="23134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>
                <a:solidFill>
                  <a:srgbClr val="009999"/>
                </a:solidFill>
              </a:rPr>
              <a:t>baidu.</a:t>
            </a:r>
            <a:r>
              <a:rPr lang="en-US" altLang="zh-CN" sz="3600" dirty="0">
                <a:solidFill>
                  <a:srgbClr val="FF0000"/>
                </a:solidFill>
              </a:rPr>
              <a:t>com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58A15D09-1A28-4CAC-B815-65C8D517FE12}"/>
              </a:ext>
            </a:extLst>
          </p:cNvPr>
          <p:cNvSpPr/>
          <p:nvPr/>
        </p:nvSpPr>
        <p:spPr>
          <a:xfrm>
            <a:off x="1941690" y="2701347"/>
            <a:ext cx="1896534" cy="474133"/>
          </a:xfrm>
          <a:prstGeom prst="wedgeRectCallout">
            <a:avLst>
              <a:gd name="adj1" fmla="val -19551"/>
              <a:gd name="adj2" fmla="val -17321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域名后缀</a:t>
            </a:r>
          </a:p>
        </p:txBody>
      </p:sp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CF85D978-D47E-4D6B-A158-037F82D9DD23}"/>
              </a:ext>
            </a:extLst>
          </p:cNvPr>
          <p:cNvSpPr/>
          <p:nvPr/>
        </p:nvSpPr>
        <p:spPr>
          <a:xfrm>
            <a:off x="259646" y="3353114"/>
            <a:ext cx="1896534" cy="329407"/>
          </a:xfrm>
          <a:prstGeom prst="wedgeRectCallout">
            <a:avLst>
              <a:gd name="adj1" fmla="val -1099"/>
              <a:gd name="adj2" fmla="val -43712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50"/>
                </a:solidFill>
              </a:rPr>
              <a:t>自定义名称</a:t>
            </a:r>
          </a:p>
        </p:txBody>
      </p:sp>
    </p:spTree>
    <p:extLst>
      <p:ext uri="{BB962C8B-B14F-4D97-AF65-F5344CB8AC3E}">
        <p14:creationId xmlns:p14="http://schemas.microsoft.com/office/powerpoint/2010/main" val="562428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15D74F-22EC-46BA-B37A-B62445948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域名与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3C80FB9C-7179-48A2-85F2-5B03F08BB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139021"/>
              </p:ext>
            </p:extLst>
          </p:nvPr>
        </p:nvGraphicFramePr>
        <p:xfrm>
          <a:off x="914400" y="2063044"/>
          <a:ext cx="10047111" cy="1505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182998909"/>
                    </a:ext>
                  </a:extLst>
                </a:gridCol>
                <a:gridCol w="2517422">
                  <a:extLst>
                    <a:ext uri="{9D8B030D-6E8A-4147-A177-3AD203B41FA5}">
                      <a16:colId xmlns:a16="http://schemas.microsoft.com/office/drawing/2014/main" val="982337301"/>
                    </a:ext>
                  </a:extLst>
                </a:gridCol>
                <a:gridCol w="3635022">
                  <a:extLst>
                    <a:ext uri="{9D8B030D-6E8A-4147-A177-3AD203B41FA5}">
                      <a16:colId xmlns:a16="http://schemas.microsoft.com/office/drawing/2014/main" val="351611232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357759470"/>
                    </a:ext>
                  </a:extLst>
                </a:gridCol>
              </a:tblGrid>
              <a:tr h="30354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510360"/>
                  </a:ext>
                </a:extLst>
              </a:tr>
              <a:tr h="379432"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域名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/>
                        <a:t>通讯录里的人名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/>
                        <a:t>便于人类记忆检索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/>
                        <a:t>baidu.com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432568"/>
                  </a:ext>
                </a:extLst>
              </a:tr>
              <a:tr h="682978">
                <a:tc>
                  <a:txBody>
                    <a:bodyPr/>
                    <a:lstStyle/>
                    <a:p>
                      <a:r>
                        <a:rPr lang="en-US" altLang="zh-CN" sz="2400" dirty="0"/>
                        <a:t>IP</a:t>
                      </a:r>
                      <a:r>
                        <a:rPr lang="zh-CN" altLang="en-US" sz="2400" dirty="0"/>
                        <a:t>地址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/>
                        <a:t>电话号码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/>
                        <a:t>联系到对方的真正途径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110.242.68.41</a:t>
                      </a:r>
                      <a:endParaRPr lang="zh-CN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8894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922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3C076-219C-42B0-A845-974C6807A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启动</a:t>
            </a:r>
            <a:r>
              <a:rPr lang="en-US" altLang="zh-CN" dirty="0" err="1"/>
              <a:t>cmd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FEA3C6-D5F8-4053-8017-4328DD515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27" y="1337972"/>
            <a:ext cx="4676190" cy="529523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4307B0B-C747-49FE-BF28-EBAA39897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252" y="1337972"/>
            <a:ext cx="4676190" cy="5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035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15D74F-22EC-46BA-B37A-B62445948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ping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F558DD-7F49-4685-89EB-486DFF7DD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6019"/>
            <a:ext cx="4766849" cy="4525962"/>
          </a:xfrm>
        </p:spPr>
        <p:txBody>
          <a:bodyPr/>
          <a:lstStyle/>
          <a:p>
            <a:pPr fontAlgn="ctr"/>
            <a:r>
              <a:rPr lang="en-US" altLang="zh-CN" sz="1800" dirty="0"/>
              <a:t>ping </a:t>
            </a:r>
            <a:r>
              <a:rPr lang="en-US" altLang="zh-CN" sz="1800" dirty="0">
                <a:hlinkClick r:id="rId2"/>
              </a:rPr>
              <a:t>www.baidu.com</a:t>
            </a:r>
            <a:r>
              <a:rPr lang="en-US" altLang="zh-CN" sz="1800" dirty="0"/>
              <a:t> </a:t>
            </a:r>
          </a:p>
          <a:p>
            <a:pPr fontAlgn="ctr"/>
            <a:r>
              <a:rPr lang="en-US" altLang="zh-CN" sz="1800" dirty="0"/>
              <a:t>110.242.68.41</a:t>
            </a:r>
            <a:r>
              <a:rPr lang="zh-CN" altLang="zh-CN" sz="1800" dirty="0"/>
              <a:t>——百度的</a:t>
            </a:r>
            <a:r>
              <a:rPr lang="en-US" altLang="zh-CN" sz="1800" dirty="0" err="1"/>
              <a:t>ip</a:t>
            </a:r>
            <a:r>
              <a:rPr lang="zh-CN" altLang="zh-CN" sz="1800" dirty="0"/>
              <a:t>地址（在互联网上的门牌号或身份证号</a:t>
            </a:r>
            <a:r>
              <a:rPr lang="zh-CN" altLang="en-US" sz="1800" dirty="0"/>
              <a:t>，通讯录里的电话号码</a:t>
            </a:r>
            <a:r>
              <a:rPr lang="zh-CN" altLang="zh-CN" sz="1800" dirty="0"/>
              <a:t>）</a:t>
            </a:r>
          </a:p>
          <a:p>
            <a:pPr fontAlgn="ctr"/>
            <a:r>
              <a:rPr lang="zh-CN" altLang="zh-CN" sz="1800" dirty="0"/>
              <a:t>时间</a:t>
            </a:r>
            <a:r>
              <a:rPr lang="en-US" altLang="zh-CN" sz="1800" dirty="0"/>
              <a:t>=28ms</a:t>
            </a:r>
            <a:r>
              <a:rPr lang="zh-CN" altLang="zh-CN" sz="1800" dirty="0"/>
              <a:t>，</a:t>
            </a:r>
            <a:r>
              <a:rPr lang="en-US" altLang="zh-CN" sz="1800" dirty="0"/>
              <a:t>TTL=53</a:t>
            </a:r>
            <a:r>
              <a:rPr lang="zh-CN" altLang="zh-CN" sz="1800" dirty="0"/>
              <a:t>——数据包有返回时间，说明对方主机在线（活着）</a:t>
            </a:r>
          </a:p>
          <a:p>
            <a:pPr fontAlgn="ctr"/>
            <a:r>
              <a:rPr lang="zh-CN" altLang="zh-CN" sz="1800" dirty="0"/>
              <a:t>TTL是 Time To Live的缩写,该字段指定IP包被路由器丢弃之前允许通过的最大网段数量</a:t>
            </a:r>
          </a:p>
          <a:p>
            <a:pPr fontAlgn="ctr"/>
            <a:r>
              <a:rPr lang="zh-CN" altLang="zh-CN" sz="1800" dirty="0"/>
              <a:t>统计信息——反映网络拥堵情况</a:t>
            </a:r>
          </a:p>
          <a:p>
            <a:pPr fontAlgn="ctr"/>
            <a:r>
              <a:rPr lang="en-US" altLang="zh-CN" sz="1800" dirty="0"/>
              <a:t>widows</a:t>
            </a:r>
            <a:r>
              <a:rPr lang="zh-CN" altLang="zh-CN" sz="1800" dirty="0"/>
              <a:t>默认发送</a:t>
            </a:r>
            <a:r>
              <a:rPr lang="en-US" altLang="zh-CN" sz="1800" dirty="0"/>
              <a:t>4</a:t>
            </a:r>
            <a:r>
              <a:rPr lang="zh-CN" altLang="zh-CN" sz="1800" dirty="0"/>
              <a:t>个数据包，返回统计信息，然后退出</a:t>
            </a:r>
          </a:p>
          <a:p>
            <a:endParaRPr lang="zh-CN" altLang="en-US" dirty="0"/>
          </a:p>
        </p:txBody>
      </p:sp>
      <p:pic>
        <p:nvPicPr>
          <p:cNvPr id="1026" name="Picture 2" descr="计算机生成了可选文字:&#10;管C：\Windows\system32\cmd“巳&#10;icros0Ftin0WS[片6．1．？61]&#10;+又月斤．（c）29icros0FtCorporationo1呆留月斤咩又汗刂。&#10;〉ping．bau．C0m&#10;《芏Ping。&#10;自11．242．68&#10;自11．242．68&#10;自11．242．68&#10;自11．242．68&#10;1．242．68．4&#10;数扌包：已&#10;28ms&#10;宀节的数据：&#10;．shifen．c0[11．242．68．4]&#10;、18=28msrL=53&#10;=28ms&#10;=28msrrL=53&#10;《：28msrrL=53&#10;4，丢失=（丢失），&#10;28ms&#10;．4的回&#10;．4的回&#10;．4的回&#10;．4的回&#10;Ping&#10;：丈下：32&#10;：丈菹：32日、&#10;：丈：32日、&#10;子下：32日、&#10;28ms&#10;，平士匀=">
            <a:extLst>
              <a:ext uri="{FF2B5EF4-FFF2-40B4-BE49-F238E27FC236}">
                <a16:creationId xmlns:a16="http://schemas.microsoft.com/office/drawing/2014/main" id="{104283D1-0BEB-4CF7-B523-021027A86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979" y="1323975"/>
            <a:ext cx="6448425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7440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55520-F1D9-D112-A83E-4CC9C2262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9BEE73-8BA8-8467-4A52-D5A249EE0A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第二课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7828D15-9CD3-BE67-6E60-5ED58F9CA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8817" y="3860801"/>
            <a:ext cx="8534400" cy="2195442"/>
          </a:xfrm>
        </p:spPr>
        <p:txBody>
          <a:bodyPr/>
          <a:lstStyle/>
          <a:p>
            <a:r>
              <a:rPr lang="zh-CN" altLang="en-US" dirty="0"/>
              <a:t>网络拓扑、</a:t>
            </a:r>
            <a:r>
              <a:rPr lang="en-US" altLang="zh-CN" dirty="0" err="1"/>
              <a:t>tracert</a:t>
            </a:r>
            <a:r>
              <a:rPr lang="zh-CN" altLang="en-US" dirty="0"/>
              <a:t>命令、网络分类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淄博五中</a:t>
            </a:r>
            <a:r>
              <a:rPr lang="en-US" altLang="zh-CN" dirty="0"/>
              <a:t>  </a:t>
            </a:r>
            <a:r>
              <a:rPr lang="zh-CN" altLang="en-US" dirty="0"/>
              <a:t>信息中心</a:t>
            </a:r>
          </a:p>
        </p:txBody>
      </p:sp>
    </p:spTree>
    <p:extLst>
      <p:ext uri="{BB962C8B-B14F-4D97-AF65-F5344CB8AC3E}">
        <p14:creationId xmlns:p14="http://schemas.microsoft.com/office/powerpoint/2010/main" val="3796111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C0D747-F07B-467B-83FD-F8D9390E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4543"/>
            <a:ext cx="10972800" cy="720725"/>
          </a:xfrm>
        </p:spPr>
        <p:txBody>
          <a:bodyPr/>
          <a:lstStyle/>
          <a:p>
            <a:r>
              <a:rPr lang="en-US" altLang="zh-CN" dirty="0"/>
              <a:t>tracert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8498B1-2EDC-432A-9097-8E756FAED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8939" y="1779858"/>
            <a:ext cx="4333461" cy="4525962"/>
          </a:xfrm>
        </p:spPr>
        <p:txBody>
          <a:bodyPr/>
          <a:lstStyle/>
          <a:p>
            <a:pPr fontAlgn="ctr"/>
            <a:r>
              <a:rPr lang="en-US" altLang="zh-CN" sz="1600" dirty="0"/>
              <a:t>tracert </a:t>
            </a:r>
            <a:r>
              <a:rPr lang="en-US" altLang="zh-CN" sz="1600" dirty="0">
                <a:hlinkClick r:id="rId2"/>
              </a:rPr>
              <a:t>www.baidu.com</a:t>
            </a:r>
            <a:r>
              <a:rPr lang="en-US" altLang="zh-CN" sz="1600" dirty="0"/>
              <a:t> </a:t>
            </a:r>
          </a:p>
          <a:p>
            <a:pPr fontAlgn="ctr"/>
            <a:r>
              <a:rPr lang="en-US" altLang="zh-CN" sz="1600" dirty="0"/>
              <a:t>110.242.68.66 </a:t>
            </a:r>
            <a:r>
              <a:rPr lang="zh-CN" altLang="zh-CN" sz="1600" dirty="0"/>
              <a:t>——百度的</a:t>
            </a:r>
            <a:r>
              <a:rPr lang="en-US" altLang="zh-CN" sz="1600" dirty="0" err="1"/>
              <a:t>ip</a:t>
            </a:r>
            <a:r>
              <a:rPr lang="zh-CN" altLang="zh-CN" sz="1600" dirty="0"/>
              <a:t>地址变化，说明百度有很多服务器提供服务，会引导你到登录最快的而服务器。每次使用该命令，还有</a:t>
            </a:r>
            <a:r>
              <a:rPr lang="en-US" altLang="zh-CN" sz="1600" dirty="0"/>
              <a:t>ping</a:t>
            </a:r>
            <a:r>
              <a:rPr lang="zh-CN" altLang="zh-CN" sz="1600" dirty="0"/>
              <a:t>命令，得到的地址可能会不同。</a:t>
            </a:r>
          </a:p>
          <a:p>
            <a:pPr fontAlgn="ctr"/>
            <a:r>
              <a:rPr lang="zh-CN" altLang="zh-CN" sz="1600" dirty="0"/>
              <a:t>每一个</a:t>
            </a:r>
            <a:r>
              <a:rPr lang="en-US" altLang="zh-CN" sz="1600" dirty="0" err="1"/>
              <a:t>ip</a:t>
            </a:r>
            <a:r>
              <a:rPr lang="zh-CN" altLang="zh-CN" sz="1600" dirty="0"/>
              <a:t>对应网络中的一台网络设备（路由器），图中所示，从我的电脑到百度服务器经历了</a:t>
            </a:r>
            <a:r>
              <a:rPr lang="en-US" altLang="zh-CN" sz="1600" dirty="0"/>
              <a:t>14</a:t>
            </a:r>
            <a:r>
              <a:rPr lang="zh-CN" altLang="zh-CN" sz="1600" dirty="0"/>
              <a:t>个跃点，</a:t>
            </a:r>
            <a:r>
              <a:rPr lang="en-US" altLang="zh-CN" sz="1600" dirty="0"/>
              <a:t>8</a:t>
            </a:r>
            <a:r>
              <a:rPr lang="zh-CN" altLang="zh-CN" sz="1600" dirty="0"/>
              <a:t>个路由设备（没有显示超时的跃点）</a:t>
            </a:r>
          </a:p>
          <a:p>
            <a:pPr fontAlgn="ctr"/>
            <a:r>
              <a:rPr lang="zh-CN" altLang="zh-CN" sz="1600" dirty="0"/>
              <a:t>请求超时——某个路由器不可访问，将自动寻找下一个可以到达的路由器（此路不同请绕行）</a:t>
            </a:r>
          </a:p>
          <a:p>
            <a:pPr fontAlgn="ctr"/>
            <a:r>
              <a:rPr lang="zh-CN" altLang="zh-CN" sz="1600" dirty="0"/>
              <a:t>从你的电脑出发，最多找</a:t>
            </a:r>
            <a:r>
              <a:rPr lang="en-US" altLang="zh-CN" sz="1600" dirty="0"/>
              <a:t>30</a:t>
            </a:r>
            <a:r>
              <a:rPr lang="zh-CN" altLang="zh-CN" sz="1600" dirty="0"/>
              <a:t>次</a:t>
            </a:r>
          </a:p>
          <a:p>
            <a:endParaRPr lang="zh-CN" altLang="en-US" dirty="0"/>
          </a:p>
        </p:txBody>
      </p:sp>
      <p:pic>
        <p:nvPicPr>
          <p:cNvPr id="6146" name="Picture 2" descr="计算机生成了可选文字:&#10;管C：\Windows\system32\cmd“巳&#10;又．（c）29icros0FtCorporationo1呆留月斤咩又汗刂。&#10;：]Se、嗆dministpat0p〉te．u．C0m&#10;过最多个跃点跟踪&#10;、路由：&#10;《ps_other.a.shifen.com[11．242．68．66]&#10;11&#10;23&#10;26&#10;33&#10;艮踪完成。&#10;25&#10;26&#10;26&#10;1&#10;1&#10;1&#10;23&#10;25&#10;26&#10;ms&#10;ms&#10;ms&#10;ms&#10;ms&#10;ms&#10;ms&#10;ms&#10;192．168．3．1&#10;192．168．1．1&#10;112．24．8．1&#10;6．21．4．9？&#10;222．134．155．6&#10;请求超时。&#10;219．158．115．？&#10;11．242．66．19&#10;11．242．68．66">
            <a:extLst>
              <a:ext uri="{FF2B5EF4-FFF2-40B4-BE49-F238E27FC236}">
                <a16:creationId xmlns:a16="http://schemas.microsoft.com/office/drawing/2014/main" id="{A79C323F-F5E7-48FB-9634-3FB7492A0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02" y="1658844"/>
            <a:ext cx="6448425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224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2AF72-583C-4E9B-BAC8-0C3F960A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tracert</a:t>
            </a:r>
            <a:r>
              <a:rPr lang="zh-CN" altLang="en-US" dirty="0"/>
              <a:t>反映的意义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4E0886-7FBC-46AF-804A-E94CBA9F7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68413"/>
            <a:ext cx="11417085" cy="4525962"/>
          </a:xfrm>
        </p:spPr>
        <p:txBody>
          <a:bodyPr/>
          <a:lstStyle/>
          <a:p>
            <a:pPr fontAlgn="ctr"/>
            <a:r>
              <a:rPr lang="zh-CN" altLang="zh-CN" dirty="0"/>
              <a:t>反映出从我的电脑到要访问的服务器之间不是直接连接的，中间经历了许多中转设备</a:t>
            </a:r>
          </a:p>
          <a:p>
            <a:pPr fontAlgn="ctr"/>
            <a:r>
              <a:rPr lang="zh-CN" altLang="zh-CN" dirty="0"/>
              <a:t>此路不通时，可以绕行。网络设备之间的线路不是唯一的，而是有多条线路。</a:t>
            </a:r>
          </a:p>
          <a:p>
            <a:pPr fontAlgn="ctr"/>
            <a:r>
              <a:rPr lang="zh-CN" altLang="zh-CN" dirty="0"/>
              <a:t>这体现出互联网在设计时的基本特性——互联互通</a:t>
            </a:r>
          </a:p>
          <a:p>
            <a:pPr fontAlgn="ctr"/>
            <a:r>
              <a:rPr lang="en-US" altLang="zh-CN" dirty="0"/>
              <a:t>tracert</a:t>
            </a:r>
            <a:r>
              <a:rPr lang="zh-CN" altLang="zh-CN" dirty="0"/>
              <a:t>告诉计算机如何到达目的地，但并不知道其地理位置。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3295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8D9E44-9366-7525-770F-4570DDE0D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家庭网络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85FF192-7DDD-3177-2A46-1DA69ADE3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931" y="1265236"/>
            <a:ext cx="7591425" cy="473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47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91FA7A-333D-4DA5-9E66-7B618F432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网络拓扑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64E0D2-2B4A-4940-BE52-CB13F0A8B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18294"/>
            <a:ext cx="4499675" cy="2581747"/>
          </a:xfrm>
        </p:spPr>
        <p:txBody>
          <a:bodyPr/>
          <a:lstStyle/>
          <a:p>
            <a:pPr fontAlgn="ctr"/>
            <a:r>
              <a:rPr lang="zh-CN" altLang="zh-CN" sz="2000" dirty="0"/>
              <a:t>来自拓扑学，是数学</a:t>
            </a:r>
            <a:r>
              <a:rPr lang="zh-CN" altLang="en-US" sz="2000" dirty="0"/>
              <a:t>的一个</a:t>
            </a:r>
            <a:r>
              <a:rPr lang="zh-CN" altLang="zh-CN" sz="2000" dirty="0"/>
              <a:t>分支，只考虑节点之间的联系</a:t>
            </a:r>
            <a:r>
              <a:rPr lang="zh-CN" altLang="en-US" sz="2000" dirty="0"/>
              <a:t>（几何形状）</a:t>
            </a:r>
            <a:r>
              <a:rPr lang="zh-CN" altLang="zh-CN" sz="2000" dirty="0"/>
              <a:t>，不考虑其物理位置的结构图。</a:t>
            </a:r>
          </a:p>
          <a:p>
            <a:pPr fontAlgn="ctr"/>
            <a:r>
              <a:rPr lang="zh-CN" altLang="zh-CN" sz="2000" dirty="0"/>
              <a:t>网络拓扑可以简化网络结构，关注设备和谁相连接，而不是设备在什么地方</a:t>
            </a:r>
            <a:r>
              <a:rPr lang="zh-CN" altLang="zh-CN" dirty="0"/>
              <a:t>。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A991362-B42F-4475-B6F8-C46792D2C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2049" y="1453192"/>
            <a:ext cx="6407417" cy="451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3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7B2FC5-7433-BCD4-AA17-0301CF39B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拓扑结构</a:t>
            </a:r>
          </a:p>
        </p:txBody>
      </p:sp>
      <p:sp>
        <p:nvSpPr>
          <p:cNvPr id="4" name="AutoShape 2" descr="网络拓扑结构_网络拓扑 csdn-CSDN博客">
            <a:extLst>
              <a:ext uri="{FF2B5EF4-FFF2-40B4-BE49-F238E27FC236}">
                <a16:creationId xmlns:a16="http://schemas.microsoft.com/office/drawing/2014/main" id="{9C591E9C-3BEB-0414-AC5C-C5625627EA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A11777CE-EE02-D421-A345-DCF5CF011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22" y="1212313"/>
            <a:ext cx="5026378" cy="319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DC9248F-AB6C-4A9B-DB45-86891A9D4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12313"/>
            <a:ext cx="6324600" cy="5576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7658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2AA2BE-BE26-4BA7-B455-49D92E42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网络的分类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EC2655-F25E-4845-AFF6-5F96F7157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按照网络覆盖范围（距离）分类</a:t>
            </a:r>
            <a:endParaRPr lang="en-US" altLang="zh-CN" dirty="0"/>
          </a:p>
          <a:p>
            <a:pPr lvl="1"/>
            <a:r>
              <a:rPr lang="zh-CN" altLang="en-US" dirty="0"/>
              <a:t>局域网（</a:t>
            </a:r>
            <a:r>
              <a:rPr lang="en-US" altLang="zh-CN" dirty="0"/>
              <a:t>LAN</a:t>
            </a:r>
            <a:r>
              <a:rPr lang="zh-CN" altLang="en-US" dirty="0"/>
              <a:t>）几米</a:t>
            </a:r>
            <a:r>
              <a:rPr lang="en-US" altLang="zh-CN" dirty="0"/>
              <a:t>——</a:t>
            </a:r>
            <a:r>
              <a:rPr lang="zh-CN" altLang="en-US" dirty="0"/>
              <a:t>几十公里</a:t>
            </a:r>
            <a:endParaRPr lang="en-US" altLang="zh-CN" dirty="0"/>
          </a:p>
          <a:p>
            <a:pPr lvl="2"/>
            <a:r>
              <a:rPr lang="zh-CN" altLang="en-US" dirty="0"/>
              <a:t>一栋楼、一个单位、一个公司、一个家庭</a:t>
            </a:r>
            <a:endParaRPr lang="en-US" altLang="zh-CN" dirty="0"/>
          </a:p>
          <a:p>
            <a:pPr lvl="1"/>
            <a:r>
              <a:rPr lang="zh-CN" altLang="en-US" dirty="0"/>
              <a:t>城域网（</a:t>
            </a:r>
            <a:r>
              <a:rPr lang="en-US" altLang="zh-CN" dirty="0"/>
              <a:t>MAN</a:t>
            </a:r>
            <a:r>
              <a:rPr lang="zh-CN" altLang="en-US" dirty="0"/>
              <a:t>）几十公里</a:t>
            </a:r>
            <a:r>
              <a:rPr lang="en-US" altLang="zh-CN" dirty="0"/>
              <a:t>——</a:t>
            </a:r>
            <a:r>
              <a:rPr lang="zh-CN" altLang="en-US" dirty="0"/>
              <a:t>几百公里</a:t>
            </a:r>
            <a:endParaRPr lang="en-US" altLang="zh-CN" dirty="0"/>
          </a:p>
          <a:p>
            <a:pPr lvl="2"/>
            <a:r>
              <a:rPr lang="zh-CN" altLang="en-US" dirty="0"/>
              <a:t>一个城市范围内的网络</a:t>
            </a:r>
            <a:endParaRPr lang="en-US" altLang="zh-CN" dirty="0"/>
          </a:p>
          <a:p>
            <a:pPr lvl="1"/>
            <a:r>
              <a:rPr lang="zh-CN" altLang="en-US" dirty="0"/>
              <a:t>广域网（</a:t>
            </a:r>
            <a:r>
              <a:rPr lang="en-US" altLang="zh-CN" dirty="0"/>
              <a:t>WAN</a:t>
            </a:r>
            <a:r>
              <a:rPr lang="zh-CN" altLang="en-US" dirty="0"/>
              <a:t>）几百公里</a:t>
            </a:r>
            <a:r>
              <a:rPr lang="en-US" altLang="zh-CN" dirty="0"/>
              <a:t>——</a:t>
            </a:r>
            <a:r>
              <a:rPr lang="zh-CN" altLang="en-US" dirty="0"/>
              <a:t>几千公里</a:t>
            </a:r>
            <a:endParaRPr lang="en-US" altLang="zh-CN"/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22158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BEF80-570C-417F-A808-8074A0819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36170C-3C61-4256-BDFF-014D807C9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绘制一下自己家庭的网络拓扑图</a:t>
            </a:r>
          </a:p>
        </p:txBody>
      </p:sp>
    </p:spTree>
    <p:extLst>
      <p:ext uri="{BB962C8B-B14F-4D97-AF65-F5344CB8AC3E}">
        <p14:creationId xmlns:p14="http://schemas.microsoft.com/office/powerpoint/2010/main" val="3794099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C4A98-F67E-029C-45A5-EC643D62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2C4D9E-B7BE-16F3-4552-072DC8C849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第三课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CA433B-DEDB-8E59-D952-027D2441C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8817" y="3860801"/>
            <a:ext cx="8534400" cy="2195442"/>
          </a:xfrm>
        </p:spPr>
        <p:txBody>
          <a:bodyPr/>
          <a:lstStyle/>
          <a:p>
            <a:r>
              <a:rPr lang="zh-CN" altLang="en-US" dirty="0"/>
              <a:t>局域网组成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淄博五中</a:t>
            </a:r>
            <a:r>
              <a:rPr lang="en-US" altLang="zh-CN" dirty="0"/>
              <a:t>  </a:t>
            </a:r>
            <a:r>
              <a:rPr lang="zh-CN" altLang="en-US" dirty="0"/>
              <a:t>信息中心</a:t>
            </a:r>
          </a:p>
        </p:txBody>
      </p:sp>
    </p:spTree>
    <p:extLst>
      <p:ext uri="{BB962C8B-B14F-4D97-AF65-F5344CB8AC3E}">
        <p14:creationId xmlns:p14="http://schemas.microsoft.com/office/powerpoint/2010/main" val="250067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EECB2-C202-E287-C964-D7DD772FC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8FEDB6-ED98-F7B1-D01C-F6B25E3EA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3"/>
            <a:ext cx="10972800" cy="2456920"/>
          </a:xfrm>
        </p:spPr>
        <p:txBody>
          <a:bodyPr/>
          <a:lstStyle/>
          <a:p>
            <a:r>
              <a:rPr lang="zh-CN" altLang="en-US" dirty="0"/>
              <a:t>办公室有</a:t>
            </a:r>
            <a:r>
              <a:rPr lang="en-US" altLang="zh-CN" dirty="0"/>
              <a:t>7</a:t>
            </a:r>
            <a:r>
              <a:rPr lang="zh-CN" altLang="en-US" dirty="0"/>
              <a:t>台电脑，现在只有</a:t>
            </a:r>
            <a:r>
              <a:rPr lang="en-US" altLang="zh-CN" dirty="0"/>
              <a:t>1</a:t>
            </a:r>
            <a:r>
              <a:rPr lang="zh-CN" altLang="en-US" dirty="0"/>
              <a:t>台打印机且每台电脑单独连打印机都能打印。但每次打印都要拔插打印机线，换电脑插线太麻烦</a:t>
            </a:r>
            <a:r>
              <a:rPr lang="en-US" altLang="zh-CN" dirty="0"/>
              <a:t>——</a:t>
            </a:r>
            <a:r>
              <a:rPr lang="zh-CN" altLang="en-US" dirty="0"/>
              <a:t>有没有办法让</a:t>
            </a:r>
            <a:r>
              <a:rPr lang="en-US" altLang="zh-CN" dirty="0"/>
              <a:t>7</a:t>
            </a:r>
            <a:r>
              <a:rPr lang="zh-CN" altLang="en-US" dirty="0"/>
              <a:t>台电脑不用拔线，都能直接用这台打印机？</a:t>
            </a:r>
          </a:p>
        </p:txBody>
      </p:sp>
    </p:spTree>
    <p:extLst>
      <p:ext uri="{BB962C8B-B14F-4D97-AF65-F5344CB8AC3E}">
        <p14:creationId xmlns:p14="http://schemas.microsoft.com/office/powerpoint/2010/main" val="1261591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C26251-D364-706B-6458-84F5D0D1D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原理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C87245-CD75-21BC-58CB-3BE8B8D12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072" y="5311066"/>
            <a:ext cx="791249" cy="77862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88F5339-276B-F346-84D4-00E2667A0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852" y="3299171"/>
            <a:ext cx="1011569" cy="1157118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3B2BBF6-8438-E263-B5F1-0C4DB51CB307}"/>
              </a:ext>
            </a:extLst>
          </p:cNvPr>
          <p:cNvCxnSpPr>
            <a:cxnSpLocks/>
          </p:cNvCxnSpPr>
          <p:nvPr/>
        </p:nvCxnSpPr>
        <p:spPr>
          <a:xfrm>
            <a:off x="5993821" y="3901799"/>
            <a:ext cx="1929586" cy="151314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FA6E784-9196-0855-045D-E2E77EAABD66}"/>
              </a:ext>
            </a:extLst>
          </p:cNvPr>
          <p:cNvCxnSpPr>
            <a:cxnSpLocks/>
          </p:cNvCxnSpPr>
          <p:nvPr/>
        </p:nvCxnSpPr>
        <p:spPr>
          <a:xfrm flipH="1">
            <a:off x="4694985" y="4018845"/>
            <a:ext cx="1006340" cy="148761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DDB444B6-13D8-2C39-A090-2A0C8AD64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7669" y="5026580"/>
            <a:ext cx="1068001" cy="776728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847F2DC8-D1DA-13C2-8714-F047DAE6EEA1}"/>
              </a:ext>
            </a:extLst>
          </p:cNvPr>
          <p:cNvGrpSpPr/>
          <p:nvPr/>
        </p:nvGrpSpPr>
        <p:grpSpPr>
          <a:xfrm>
            <a:off x="7588687" y="5106195"/>
            <a:ext cx="1127232" cy="617498"/>
            <a:chOff x="6519039" y="4188904"/>
            <a:chExt cx="1127232" cy="617498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44E159A2-A611-9892-EB25-F2D320C92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87870" y="4188904"/>
              <a:ext cx="561959" cy="425795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F393B43-95F2-8631-50B1-018C4FFAFD09}"/>
                </a:ext>
              </a:extLst>
            </p:cNvPr>
            <p:cNvSpPr txBox="1"/>
            <p:nvPr/>
          </p:nvSpPr>
          <p:spPr>
            <a:xfrm>
              <a:off x="6519039" y="4552486"/>
              <a:ext cx="112723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/>
                <a:t>网络打印服务器</a:t>
              </a:r>
            </a:p>
          </p:txBody>
        </p:sp>
      </p:grp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A848F19-A417-AF6A-CA2B-DF9E7E070056}"/>
              </a:ext>
            </a:extLst>
          </p:cNvPr>
          <p:cNvCxnSpPr>
            <a:cxnSpLocks/>
          </p:cNvCxnSpPr>
          <p:nvPr/>
        </p:nvCxnSpPr>
        <p:spPr>
          <a:xfrm>
            <a:off x="8245222" y="5414944"/>
            <a:ext cx="1248734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98CED7B9-B672-E6DE-5962-FC5A1FFDC8DC}"/>
              </a:ext>
            </a:extLst>
          </p:cNvPr>
          <p:cNvSpPr txBox="1"/>
          <p:nvPr/>
        </p:nvSpPr>
        <p:spPr>
          <a:xfrm>
            <a:off x="388933" y="1505193"/>
            <a:ext cx="112097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F2328"/>
                </a:solidFill>
                <a:effectLst/>
                <a:latin typeface="+mn-ea"/>
                <a:ea typeface="+mn-ea"/>
              </a:rPr>
              <a:t>电脑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+mn-ea"/>
                <a:ea typeface="+mn-ea"/>
              </a:rPr>
              <a:t>A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+mn-ea"/>
                <a:ea typeface="+mn-ea"/>
              </a:rPr>
              <a:t>发送打印指令→通过网线传到交换机→交换机转发给打印机服务器→打印机服务器控制打印机执行打印，</a:t>
            </a:r>
            <a:endParaRPr lang="en-US" altLang="zh-CN" b="0" i="0" dirty="0">
              <a:solidFill>
                <a:srgbClr val="1F2328"/>
              </a:solidFill>
              <a:effectLst/>
              <a:latin typeface="+mn-ea"/>
              <a:ea typeface="+mn-ea"/>
            </a:endParaRPr>
          </a:p>
          <a:p>
            <a:r>
              <a:rPr lang="zh-CN" altLang="en-US" b="0" i="0" dirty="0">
                <a:solidFill>
                  <a:srgbClr val="1F2328"/>
                </a:solidFill>
                <a:effectLst/>
                <a:latin typeface="+mn-ea"/>
                <a:ea typeface="+mn-ea"/>
              </a:rPr>
              <a:t> </a:t>
            </a:r>
            <a:endParaRPr lang="en-US" altLang="zh-CN" b="0" i="0" dirty="0">
              <a:solidFill>
                <a:srgbClr val="1F2328"/>
              </a:solidFill>
              <a:effectLst/>
              <a:latin typeface="+mn-ea"/>
              <a:ea typeface="+mn-ea"/>
            </a:endParaRPr>
          </a:p>
          <a:p>
            <a:r>
              <a:rPr lang="zh-CN" altLang="en-US" b="0" i="0" dirty="0">
                <a:solidFill>
                  <a:srgbClr val="1F2328"/>
                </a:solidFill>
                <a:effectLst/>
                <a:latin typeface="+mn-ea"/>
                <a:ea typeface="+mn-ea"/>
              </a:rPr>
              <a:t>局域网内设备必须通过交换机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+mn-ea"/>
                <a:ea typeface="+mn-ea"/>
              </a:rPr>
              <a:t>/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+mn-ea"/>
                <a:ea typeface="+mn-ea"/>
              </a:rPr>
              <a:t>路由器连接，才能共享资源</a:t>
            </a: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71049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3B220-5079-93A3-CFF6-F62900B66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打印机局域网解析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CE95CA6-4DF9-D0B9-0216-B30CE46F2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43115"/>
              </p:ext>
            </p:extLst>
          </p:nvPr>
        </p:nvGraphicFramePr>
        <p:xfrm>
          <a:off x="1399822" y="1462563"/>
          <a:ext cx="10182580" cy="3960086"/>
        </p:xfrm>
        <a:graphic>
          <a:graphicData uri="http://schemas.openxmlformats.org/drawingml/2006/table">
            <a:tbl>
              <a:tblPr/>
              <a:tblGrid>
                <a:gridCol w="1975542">
                  <a:extLst>
                    <a:ext uri="{9D8B030D-6E8A-4147-A177-3AD203B41FA5}">
                      <a16:colId xmlns:a16="http://schemas.microsoft.com/office/drawing/2014/main" val="2091882675"/>
                    </a:ext>
                  </a:extLst>
                </a:gridCol>
                <a:gridCol w="2223925">
                  <a:extLst>
                    <a:ext uri="{9D8B030D-6E8A-4147-A177-3AD203B41FA5}">
                      <a16:colId xmlns:a16="http://schemas.microsoft.com/office/drawing/2014/main" val="506013463"/>
                    </a:ext>
                  </a:extLst>
                </a:gridCol>
                <a:gridCol w="3437468">
                  <a:extLst>
                    <a:ext uri="{9D8B030D-6E8A-4147-A177-3AD203B41FA5}">
                      <a16:colId xmlns:a16="http://schemas.microsoft.com/office/drawing/2014/main" val="2773389088"/>
                    </a:ext>
                  </a:extLst>
                </a:gridCol>
                <a:gridCol w="2545645">
                  <a:extLst>
                    <a:ext uri="{9D8B030D-6E8A-4147-A177-3AD203B41FA5}">
                      <a16:colId xmlns:a16="http://schemas.microsoft.com/office/drawing/2014/main" val="2853277088"/>
                    </a:ext>
                  </a:extLst>
                </a:gridCol>
              </a:tblGrid>
              <a:tr h="314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设备名称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朋友圈角色类比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在共享打印中的作用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effectLst/>
                        </a:rPr>
                        <a:t>实物展示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336658"/>
                  </a:ext>
                </a:extLst>
              </a:tr>
              <a:tr h="759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交换机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“聚会组织者”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连接</a:t>
                      </a:r>
                      <a:r>
                        <a:rPr lang="en-US" altLang="zh-CN">
                          <a:effectLst/>
                        </a:rPr>
                        <a:t>7</a:t>
                      </a:r>
                      <a:r>
                        <a:rPr lang="zh-CN" altLang="en-US">
                          <a:effectLst/>
                        </a:rPr>
                        <a:t>台电脑和打印机，让它们之间能互相传递数据（如打印指令）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dirty="0">
                          <a:effectLst/>
                        </a:rPr>
                        <a:t>8</a:t>
                      </a:r>
                      <a:r>
                        <a:rPr lang="zh-CN" altLang="en-US" dirty="0">
                          <a:effectLst/>
                        </a:rPr>
                        <a:t>口交换机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650747"/>
                  </a:ext>
                </a:extLst>
              </a:tr>
              <a:tr h="759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路由器（带交换机功能）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“聚会组织者</a:t>
                      </a:r>
                      <a:r>
                        <a:rPr lang="en-US" altLang="zh-CN" dirty="0">
                          <a:effectLst/>
                        </a:rPr>
                        <a:t>+</a:t>
                      </a:r>
                      <a:r>
                        <a:rPr lang="zh-CN" altLang="en-US" dirty="0">
                          <a:effectLst/>
                        </a:rPr>
                        <a:t>外网大门”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除了连接内网设备，还能让局域网连外网（如查打印模板）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家用无线路由器，区分“</a:t>
                      </a:r>
                      <a:r>
                        <a:rPr lang="en-US" altLang="zh-CN" dirty="0">
                          <a:effectLst/>
                        </a:rPr>
                        <a:t>WAN</a:t>
                      </a:r>
                      <a:r>
                        <a:rPr lang="zh-CN" altLang="en-US" dirty="0">
                          <a:effectLst/>
                        </a:rPr>
                        <a:t>口”和“</a:t>
                      </a:r>
                      <a:r>
                        <a:rPr lang="en-US" altLang="zh-CN" dirty="0">
                          <a:effectLst/>
                        </a:rPr>
                        <a:t>LAN</a:t>
                      </a:r>
                      <a:r>
                        <a:rPr lang="zh-CN" altLang="en-US" dirty="0">
                          <a:effectLst/>
                        </a:rPr>
                        <a:t>口”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274778"/>
                  </a:ext>
                </a:extLst>
              </a:tr>
              <a:tr h="759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终端设备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“朋友圈成员”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发送打印指令的电脑（客户端）、执行打印的打印机（服务器）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195875"/>
                  </a:ext>
                </a:extLst>
              </a:tr>
              <a:tr h="759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传输介质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“成员间的传话线”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网线（有线）、</a:t>
                      </a:r>
                      <a:r>
                        <a:rPr lang="en-US" altLang="zh-CN">
                          <a:effectLst/>
                        </a:rPr>
                        <a:t>WiFi</a:t>
                      </a:r>
                      <a:r>
                        <a:rPr lang="zh-CN" altLang="en-US">
                          <a:effectLst/>
                        </a:rPr>
                        <a:t>（无线），传递打印数据</a:t>
                      </a: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582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362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8535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DD6A7-D24D-6652-5156-A5BDE2CC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局域网组成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2FFDA2A-9636-68F9-B7A2-2BA8C505A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667" y="1624806"/>
            <a:ext cx="8297333" cy="4297339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A9A9C0F-4AEB-8771-E43A-24805F614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24806"/>
            <a:ext cx="6821347" cy="3608387"/>
          </a:xfrm>
        </p:spPr>
        <p:txBody>
          <a:bodyPr/>
          <a:lstStyle/>
          <a:p>
            <a:r>
              <a:rPr lang="zh-CN" altLang="en-US" sz="2400" dirty="0"/>
              <a:t>终端</a:t>
            </a:r>
            <a:endParaRPr lang="en-US" altLang="zh-CN" sz="2400" dirty="0"/>
          </a:p>
          <a:p>
            <a:r>
              <a:rPr lang="zh-CN" altLang="en-US" sz="2400" dirty="0"/>
              <a:t>服务器</a:t>
            </a:r>
            <a:endParaRPr lang="en-US" altLang="zh-CN" sz="2400" dirty="0"/>
          </a:p>
          <a:p>
            <a:r>
              <a:rPr lang="zh-CN" altLang="en-US" sz="2400" dirty="0"/>
              <a:t>网络设备（交换机、路由器等）</a:t>
            </a:r>
            <a:endParaRPr lang="en-US" altLang="zh-CN" sz="2400" dirty="0"/>
          </a:p>
          <a:p>
            <a:r>
              <a:rPr lang="zh-CN" altLang="en-US" sz="2400" dirty="0"/>
              <a:t>安全设备</a:t>
            </a:r>
            <a:endParaRPr lang="en-US" altLang="zh-CN" sz="2400" dirty="0"/>
          </a:p>
          <a:p>
            <a:r>
              <a:rPr lang="zh-CN" altLang="en-US" sz="2400" dirty="0"/>
              <a:t>传输介质（双绞线、光缆、无线等）</a:t>
            </a:r>
          </a:p>
        </p:txBody>
      </p:sp>
    </p:spTree>
    <p:extLst>
      <p:ext uri="{BB962C8B-B14F-4D97-AF65-F5344CB8AC3E}">
        <p14:creationId xmlns:p14="http://schemas.microsoft.com/office/powerpoint/2010/main" val="11735348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178BA-C4B7-FD21-E421-84628652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传输介质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43A158-240E-F057-1D1B-260C0E393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68413"/>
            <a:ext cx="2065867" cy="4525962"/>
          </a:xfrm>
        </p:spPr>
        <p:txBody>
          <a:bodyPr/>
          <a:lstStyle/>
          <a:p>
            <a:r>
              <a:rPr lang="zh-CN" altLang="en-US" dirty="0"/>
              <a:t>双绞线</a:t>
            </a:r>
            <a:endParaRPr lang="en-US" altLang="zh-CN" dirty="0"/>
          </a:p>
          <a:p>
            <a:r>
              <a:rPr lang="zh-CN" altLang="en-US" dirty="0"/>
              <a:t>光纤</a:t>
            </a:r>
            <a:endParaRPr lang="en-US" altLang="zh-CN" dirty="0"/>
          </a:p>
          <a:p>
            <a:r>
              <a:rPr lang="zh-CN" altLang="en-US" dirty="0"/>
              <a:t>无线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F2A2B5-3D62-21A5-3FA6-7E4EEC61E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337" y="1420813"/>
            <a:ext cx="2826663" cy="2160587"/>
          </a:xfrm>
          <a:prstGeom prst="rect">
            <a:avLst/>
          </a:prstGeom>
        </p:spPr>
      </p:pic>
      <p:sp>
        <p:nvSpPr>
          <p:cNvPr id="5" name="AutoShape 2" descr="光纤光缆的基础知识-CSDN博客">
            <a:extLst>
              <a:ext uri="{FF2B5EF4-FFF2-40B4-BE49-F238E27FC236}">
                <a16:creationId xmlns:a16="http://schemas.microsoft.com/office/drawing/2014/main" id="{9A681C65-3549-ACCB-C1D9-1684F2374E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0F6E9D4-36A4-5A83-390C-60E7F4EEA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618" y="1428750"/>
            <a:ext cx="28098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50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59468-7929-0E83-1C25-C1F3C20DA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交换机与路由器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939E78-8842-1C0C-C0F0-36D6BCDAE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5733" y="1426457"/>
            <a:ext cx="8771467" cy="4525962"/>
          </a:xfrm>
        </p:spPr>
        <p:txBody>
          <a:bodyPr/>
          <a:lstStyle/>
          <a:p>
            <a:r>
              <a:rPr lang="en-US" altLang="zh-CN" sz="1800" dirty="0"/>
              <a:t>- </a:t>
            </a:r>
            <a:r>
              <a:rPr lang="zh-CN" altLang="en-US" sz="1800" b="1" dirty="0"/>
              <a:t>交换机：局域网内的“班级联络员”</a:t>
            </a:r>
            <a:r>
              <a:rPr lang="zh-CN" altLang="en-US" sz="1800" dirty="0"/>
              <a:t> 类比“班级里的小组长”，只负责“班级内部”（局域网内）的消息传递。比如机房里电脑</a:t>
            </a:r>
            <a:r>
              <a:rPr lang="en-US" altLang="zh-CN" sz="1800" dirty="0"/>
              <a:t>A</a:t>
            </a:r>
            <a:r>
              <a:rPr lang="zh-CN" altLang="en-US" sz="1800" dirty="0"/>
              <a:t>给电脑</a:t>
            </a:r>
            <a:r>
              <a:rPr lang="en-US" altLang="zh-CN" sz="1800" dirty="0"/>
              <a:t>B</a:t>
            </a:r>
            <a:r>
              <a:rPr lang="zh-CN" altLang="en-US" sz="1800" dirty="0"/>
              <a:t>传设计文件、所有电脑连打印机，都是交换机负责转发数据，它只认识“内网</a:t>
            </a:r>
            <a:r>
              <a:rPr lang="en-US" altLang="zh-CN" sz="1800" dirty="0"/>
              <a:t>IP”</a:t>
            </a:r>
            <a:r>
              <a:rPr lang="zh-CN" altLang="en-US" sz="1800" dirty="0"/>
              <a:t>（如</a:t>
            </a:r>
            <a:r>
              <a:rPr lang="en-US" altLang="zh-CN" sz="1800" dirty="0"/>
              <a:t>192.168.1.xx</a:t>
            </a:r>
            <a:r>
              <a:rPr lang="zh-CN" altLang="en-US" sz="1800" dirty="0"/>
              <a:t>），不认识外网地址（如百度的</a:t>
            </a:r>
            <a:r>
              <a:rPr lang="en-US" altLang="zh-CN" sz="1800" dirty="0"/>
              <a:t>IP</a:t>
            </a:r>
            <a:r>
              <a:rPr lang="zh-CN" altLang="en-US" sz="1800" dirty="0"/>
              <a:t>）。核心功能是“连接内网设备，实现内网资源共享”，解决“机房内高速互传”需求。</a:t>
            </a:r>
            <a:endParaRPr lang="en-US" altLang="zh-CN" sz="1800" dirty="0"/>
          </a:p>
          <a:p>
            <a:endParaRPr lang="en-US" altLang="zh-CN" sz="1800" dirty="0"/>
          </a:p>
          <a:p>
            <a:r>
              <a:rPr lang="zh-CN" altLang="en-US" sz="1800" dirty="0"/>
              <a:t> </a:t>
            </a:r>
            <a:r>
              <a:rPr lang="en-US" altLang="zh-CN" sz="1800" dirty="0"/>
              <a:t>- </a:t>
            </a:r>
            <a:r>
              <a:rPr lang="zh-CN" altLang="en-US" sz="1800" b="1" dirty="0"/>
              <a:t>路由器：内外网的“校园门卫”</a:t>
            </a:r>
            <a:r>
              <a:rPr lang="zh-CN" altLang="en-US" sz="1800" dirty="0"/>
              <a:t> 类比“学校大门的门卫”，负责“校内”（局域网）和“校外”（外网）的通信对接。比如机房里部分电脑要查外网资料，路由器会把内网的访问请求转发到外网，再把外网的内容带回内网；同时还能像“门卫查证件”一样，管控哪些电脑能连外网、哪些只能用内网。核心功能是“连接不同网络，实现内外网隔离与通信”，解决“权限管控”需求。 </a:t>
            </a:r>
            <a:endParaRPr lang="en-US" altLang="zh-CN" sz="1800" dirty="0"/>
          </a:p>
          <a:p>
            <a:endParaRPr lang="en-US" altLang="zh-CN" sz="1800" b="1" dirty="0"/>
          </a:p>
          <a:p>
            <a:r>
              <a:rPr lang="zh-CN" altLang="en-US" sz="1800" b="1" dirty="0"/>
              <a:t>一句话总结</a:t>
            </a:r>
            <a:r>
              <a:rPr lang="zh-CN" altLang="en-US" sz="1800" dirty="0"/>
              <a:t>：交换机管“内网互传”，路由器管“内外网互通”；机房里没有交换机，电脑就不能互传文件；没有路由器，所有电脑都不能上外网。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98947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E0DC2-AC7E-BD9A-EC03-B0C9D5858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交换机与路由器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D10DB67-93C7-B735-2263-1C556C0FC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592" y="1272998"/>
            <a:ext cx="4512733" cy="451273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8EC5A18-5E61-08F8-02CF-EDA88BC40C23}"/>
              </a:ext>
            </a:extLst>
          </p:cNvPr>
          <p:cNvSpPr txBox="1"/>
          <p:nvPr/>
        </p:nvSpPr>
        <p:spPr>
          <a:xfrm>
            <a:off x="6658544" y="568201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核心交换机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220C032-5D5D-B684-E582-97CB9F6CC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6715"/>
            <a:ext cx="1695086" cy="260826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BA9EB25-8F67-F987-28AD-A54796AE8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2360" y="1419223"/>
            <a:ext cx="2790825" cy="41624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1EC6348-A2F1-85AF-25EC-D97BF918F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9381" y="1376715"/>
            <a:ext cx="2924175" cy="43053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61B31D0-465D-EBBA-515A-DEADFC89B2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8258" y="1419223"/>
            <a:ext cx="281940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2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F554287-16BA-B4F1-5DE3-8101CB00410D}"/>
              </a:ext>
            </a:extLst>
          </p:cNvPr>
          <p:cNvGrpSpPr/>
          <p:nvPr/>
        </p:nvGrpSpPr>
        <p:grpSpPr>
          <a:xfrm>
            <a:off x="0" y="2"/>
            <a:ext cx="1814430" cy="859577"/>
            <a:chOff x="0" y="1"/>
            <a:chExt cx="1931532" cy="915054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B25B66CE-6E46-85DB-044E-FAF53A885B61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4" name="图形">
              <a:extLst>
                <a:ext uri="{FF2B5EF4-FFF2-40B4-BE49-F238E27FC236}">
                  <a16:creationId xmlns:a16="http://schemas.microsoft.com/office/drawing/2014/main" id="{7599D8EA-C134-AFB1-180D-B1912A30DC8C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1" y="165139"/>
              <a:ext cx="1070291" cy="622516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sz="3200" dirty="0">
                  <a:sym typeface="方正仿宋_GB2312"/>
                </a:rPr>
                <a:t>练习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1C4481A2-D4CC-2CA3-D483-F651B9FFCAF9}"/>
              </a:ext>
            </a:extLst>
          </p:cNvPr>
          <p:cNvSpPr txBox="1"/>
          <p:nvPr/>
        </p:nvSpPr>
        <p:spPr>
          <a:xfrm>
            <a:off x="1345721" y="1328902"/>
            <a:ext cx="1027118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1.</a:t>
            </a:r>
            <a:r>
              <a:rPr lang="zh-CN" altLang="en-US" sz="2400" dirty="0"/>
              <a:t>学校机房有</a:t>
            </a:r>
            <a:r>
              <a:rPr lang="en-US" altLang="zh-CN" sz="2400" dirty="0"/>
              <a:t>25</a:t>
            </a:r>
            <a:r>
              <a:rPr lang="zh-CN" altLang="en-US" sz="2400" dirty="0"/>
              <a:t>台电脑，需实现“高速互传文件</a:t>
            </a:r>
            <a:r>
              <a:rPr lang="en-US" altLang="zh-CN" sz="2400" dirty="0"/>
              <a:t>+</a:t>
            </a:r>
            <a:r>
              <a:rPr lang="zh-CN" altLang="en-US" sz="2400" dirty="0"/>
              <a:t>分区管控”，最适合的拓扑结构是？</a:t>
            </a:r>
            <a:r>
              <a:rPr lang="en-US" altLang="zh-CN" sz="2400" dirty="0"/>
              <a:t>( )</a:t>
            </a:r>
          </a:p>
          <a:p>
            <a:pPr marL="457189" indent="-457189">
              <a:buAutoNum type="alphaUcPeriod"/>
            </a:pPr>
            <a:r>
              <a:rPr lang="zh-CN" altLang="en-US" sz="2400" dirty="0"/>
              <a:t>总线型   </a:t>
            </a:r>
            <a:r>
              <a:rPr lang="en-US" altLang="zh-CN" sz="2400" dirty="0"/>
              <a:t>B.</a:t>
            </a:r>
            <a:r>
              <a:rPr lang="zh-CN" altLang="en-US" sz="2400" dirty="0"/>
              <a:t> 环型   </a:t>
            </a:r>
            <a:r>
              <a:rPr lang="en-US" altLang="zh-CN" sz="2400" dirty="0"/>
              <a:t>C.</a:t>
            </a:r>
            <a:r>
              <a:rPr lang="zh-CN" altLang="en-US" sz="2400" dirty="0"/>
              <a:t>树型  </a:t>
            </a:r>
            <a:r>
              <a:rPr lang="en-US" altLang="zh-CN" sz="2400" dirty="0"/>
              <a:t>D. </a:t>
            </a:r>
            <a:r>
              <a:rPr lang="zh-CN" altLang="en-US" sz="2400" dirty="0"/>
              <a:t>网型</a:t>
            </a:r>
            <a:endParaRPr lang="en-US" altLang="zh-CN" sz="2400" dirty="0"/>
          </a:p>
          <a:p>
            <a:pPr marL="457189" indent="-457189">
              <a:buAutoNum type="alphaUcPeriod"/>
            </a:pPr>
            <a:endParaRPr lang="en-US" altLang="zh-CN" sz="2400" dirty="0"/>
          </a:p>
          <a:p>
            <a:r>
              <a:rPr lang="en-US" altLang="zh-CN" sz="2400" dirty="0"/>
              <a:t>2.</a:t>
            </a:r>
            <a:r>
              <a:rPr lang="zh-CN" altLang="en-US" sz="2400" dirty="0"/>
              <a:t>下列设备中，主要负责“局域网内设备数据转发，实现内网文件共享”的是？（ ）</a:t>
            </a:r>
            <a:endParaRPr lang="en-US" altLang="zh-CN" sz="2400" dirty="0"/>
          </a:p>
          <a:p>
            <a:pPr marL="457189" indent="-457189">
              <a:buAutoNum type="alphaUcPeriod"/>
            </a:pPr>
            <a:r>
              <a:rPr lang="zh-CN" altLang="en-US" sz="2400" dirty="0"/>
              <a:t>路由器    </a:t>
            </a:r>
            <a:r>
              <a:rPr lang="en-US" altLang="zh-CN" sz="2400" dirty="0"/>
              <a:t>B.</a:t>
            </a:r>
            <a:r>
              <a:rPr lang="zh-CN" altLang="en-US" sz="2400" dirty="0"/>
              <a:t>交换机   </a:t>
            </a:r>
            <a:r>
              <a:rPr lang="en-US" altLang="zh-CN" sz="2400" dirty="0"/>
              <a:t>C. </a:t>
            </a:r>
            <a:r>
              <a:rPr lang="zh-CN" altLang="en-US" sz="2400" dirty="0"/>
              <a:t>服务器   </a:t>
            </a:r>
            <a:r>
              <a:rPr lang="en-US" altLang="zh-CN" sz="2400" dirty="0"/>
              <a:t>D. </a:t>
            </a:r>
            <a:r>
              <a:rPr lang="zh-CN" altLang="en-US" sz="2400" dirty="0"/>
              <a:t>光纤</a:t>
            </a:r>
            <a:endParaRPr lang="en-US" altLang="zh-CN" sz="2400" dirty="0"/>
          </a:p>
          <a:p>
            <a:pPr marL="457189" indent="-457189">
              <a:buAutoNum type="alphaUcPeriod"/>
            </a:pPr>
            <a:endParaRPr lang="en-US" altLang="zh-CN" sz="2400" dirty="0"/>
          </a:p>
          <a:p>
            <a:r>
              <a:rPr lang="en-US" altLang="zh-CN" sz="2400" dirty="0"/>
              <a:t>3.</a:t>
            </a:r>
            <a:r>
              <a:rPr lang="zh-CN" altLang="en-US" sz="2400" dirty="0"/>
              <a:t>下列关于局域网（</a:t>
            </a:r>
            <a:r>
              <a:rPr lang="en-US" altLang="zh-CN" sz="2400" dirty="0"/>
              <a:t>LAN</a:t>
            </a:r>
            <a:r>
              <a:rPr lang="zh-CN" altLang="en-US" sz="2400" dirty="0"/>
              <a:t>）的描述，错误的是？（）</a:t>
            </a:r>
            <a:endParaRPr lang="en-US" altLang="zh-CN" sz="2400" dirty="0"/>
          </a:p>
          <a:p>
            <a:r>
              <a:rPr lang="en-US" altLang="zh-CN" sz="2400" dirty="0"/>
              <a:t>A.</a:t>
            </a:r>
            <a:r>
              <a:rPr lang="zh-CN" altLang="en-US" sz="2400" dirty="0"/>
              <a:t>覆盖范围通常在</a:t>
            </a:r>
            <a:r>
              <a:rPr lang="en-US" altLang="zh-CN" sz="2400" dirty="0"/>
              <a:t>1</a:t>
            </a:r>
            <a:r>
              <a:rPr lang="zh-CN" altLang="en-US" sz="2400" dirty="0"/>
              <a:t>公里内</a:t>
            </a:r>
            <a:endParaRPr lang="en-US" altLang="zh-CN" sz="2400" dirty="0"/>
          </a:p>
          <a:p>
            <a:r>
              <a:rPr lang="en-US" altLang="zh-CN" sz="2400" dirty="0"/>
              <a:t>B.</a:t>
            </a:r>
            <a:r>
              <a:rPr lang="zh-CN" altLang="en-US" sz="2400" dirty="0"/>
              <a:t>传输速率一般高于广域网</a:t>
            </a:r>
          </a:p>
          <a:p>
            <a:r>
              <a:rPr lang="en-US" altLang="zh-CN" sz="2400" dirty="0"/>
              <a:t>C.</a:t>
            </a:r>
            <a:r>
              <a:rPr lang="zh-CN" altLang="en-US" sz="2400" dirty="0"/>
              <a:t>可实现打印机、文件等资源共享</a:t>
            </a:r>
            <a:endParaRPr lang="en-US" altLang="zh-CN" sz="2400" dirty="0"/>
          </a:p>
          <a:p>
            <a:r>
              <a:rPr lang="en-US" altLang="zh-CN" sz="2400" dirty="0"/>
              <a:t>D.</a:t>
            </a:r>
            <a:r>
              <a:rPr lang="zh-CN" altLang="en-US" sz="2400" dirty="0"/>
              <a:t>必须通过路由器才能连接设备</a:t>
            </a:r>
          </a:p>
        </p:txBody>
      </p:sp>
    </p:spTree>
    <p:extLst>
      <p:ext uri="{BB962C8B-B14F-4D97-AF65-F5344CB8AC3E}">
        <p14:creationId xmlns:p14="http://schemas.microsoft.com/office/powerpoint/2010/main" val="411312037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3531A-C0DF-267C-0783-B8A257502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8C69DFB-766C-343D-DD35-E3B0273ABF0B}"/>
              </a:ext>
            </a:extLst>
          </p:cNvPr>
          <p:cNvGrpSpPr/>
          <p:nvPr/>
        </p:nvGrpSpPr>
        <p:grpSpPr>
          <a:xfrm>
            <a:off x="0" y="2"/>
            <a:ext cx="2224799" cy="859577"/>
            <a:chOff x="0" y="1"/>
            <a:chExt cx="2368387" cy="915054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93D20F16-E1C1-DDCC-B3D9-CA08A2C818DD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4" name="图形">
              <a:extLst>
                <a:ext uri="{FF2B5EF4-FFF2-40B4-BE49-F238E27FC236}">
                  <a16:creationId xmlns:a16="http://schemas.microsoft.com/office/drawing/2014/main" id="{9C6BBA5C-963B-F36C-144E-19D3271B7227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1" y="165139"/>
              <a:ext cx="1507146" cy="62251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sz="3200" dirty="0">
                  <a:sym typeface="方正仿宋_GB2312"/>
                </a:rPr>
                <a:t>练习一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7865B73-5C1D-C24F-E433-F116C9EAC407}"/>
              </a:ext>
            </a:extLst>
          </p:cNvPr>
          <p:cNvSpPr txBox="1"/>
          <p:nvPr/>
        </p:nvSpPr>
        <p:spPr>
          <a:xfrm>
            <a:off x="2272521" y="322689"/>
            <a:ext cx="93791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将下来图标所示设备连接成局域网，使得所有电脑终端能共享打印机。只能在局域网内运行，不能接入互联网。</a:t>
            </a:r>
          </a:p>
        </p:txBody>
      </p:sp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78546EBE-C870-F3D9-13BE-96254145D2DF}"/>
              </a:ext>
            </a:extLst>
          </p:cNvPr>
          <p:cNvSpPr/>
          <p:nvPr/>
        </p:nvSpPr>
        <p:spPr>
          <a:xfrm>
            <a:off x="9038079" y="1780357"/>
            <a:ext cx="2369389" cy="874143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Internet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DCB7C74-9BA9-5753-C42D-A358C0F43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57" y="5303867"/>
            <a:ext cx="1054999" cy="103816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7B89A35-403E-FF02-D7AA-FF94329B5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155" y="5351251"/>
            <a:ext cx="1054999" cy="103816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CB49690-8E12-678F-4472-03BB06270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221" y="5303866"/>
            <a:ext cx="1054999" cy="103816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C37B7F3-86F3-D385-D61C-65776F9046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4895" y="5399280"/>
            <a:ext cx="941541" cy="87414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D2C02CC-5767-AD66-C08B-AAF40A4B0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1042" y="5385876"/>
            <a:ext cx="941541" cy="87414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230790F-6608-35C0-8672-FE7804A3DF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5609" y="1654878"/>
            <a:ext cx="1126827" cy="137511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27CF658-627D-6A42-71E5-9DE6F80D37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5042" y="3693991"/>
            <a:ext cx="1348759" cy="1542824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407CDCB-73FE-1EF8-D0CA-50F3EA680A74}"/>
              </a:ext>
            </a:extLst>
          </p:cNvPr>
          <p:cNvCxnSpPr/>
          <p:nvPr/>
        </p:nvCxnSpPr>
        <p:spPr>
          <a:xfrm>
            <a:off x="633912" y="1740856"/>
            <a:ext cx="0" cy="131365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33180682-F36B-0B20-3994-038CE8229AA0}"/>
              </a:ext>
            </a:extLst>
          </p:cNvPr>
          <p:cNvCxnSpPr>
            <a:cxnSpLocks/>
          </p:cNvCxnSpPr>
          <p:nvPr/>
        </p:nvCxnSpPr>
        <p:spPr>
          <a:xfrm flipH="1">
            <a:off x="1247696" y="4465403"/>
            <a:ext cx="1996005" cy="1079293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1CC56A9-1F86-9CCB-753B-135B2E7EEA58}"/>
              </a:ext>
            </a:extLst>
          </p:cNvPr>
          <p:cNvCxnSpPr>
            <a:cxnSpLocks/>
          </p:cNvCxnSpPr>
          <p:nvPr/>
        </p:nvCxnSpPr>
        <p:spPr>
          <a:xfrm flipH="1">
            <a:off x="2732071" y="4465403"/>
            <a:ext cx="723795" cy="103510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67BE45C-92BA-C0E2-0EEE-7914AC16BA11}"/>
              </a:ext>
            </a:extLst>
          </p:cNvPr>
          <p:cNvCxnSpPr>
            <a:cxnSpLocks/>
          </p:cNvCxnSpPr>
          <p:nvPr/>
        </p:nvCxnSpPr>
        <p:spPr>
          <a:xfrm>
            <a:off x="3856644" y="4586533"/>
            <a:ext cx="68189" cy="89349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90B745F-3C92-5B3D-93BA-B0B6CBEFA2C6}"/>
              </a:ext>
            </a:extLst>
          </p:cNvPr>
          <p:cNvCxnSpPr>
            <a:cxnSpLocks/>
          </p:cNvCxnSpPr>
          <p:nvPr/>
        </p:nvCxnSpPr>
        <p:spPr>
          <a:xfrm>
            <a:off x="3991292" y="4465403"/>
            <a:ext cx="1261920" cy="129968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16F8835-A2A2-2657-45B1-072F609411B8}"/>
              </a:ext>
            </a:extLst>
          </p:cNvPr>
          <p:cNvCxnSpPr>
            <a:cxnSpLocks/>
          </p:cNvCxnSpPr>
          <p:nvPr/>
        </p:nvCxnSpPr>
        <p:spPr>
          <a:xfrm flipH="1">
            <a:off x="3133620" y="1585379"/>
            <a:ext cx="1" cy="156425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E71CCEA6-1185-8813-9F18-538786610DC1}"/>
              </a:ext>
            </a:extLst>
          </p:cNvPr>
          <p:cNvCxnSpPr>
            <a:cxnSpLocks/>
          </p:cNvCxnSpPr>
          <p:nvPr/>
        </p:nvCxnSpPr>
        <p:spPr>
          <a:xfrm>
            <a:off x="9547332" y="4545184"/>
            <a:ext cx="435206" cy="1065729"/>
          </a:xfrm>
          <a:prstGeom prst="line">
            <a:avLst/>
          </a:prstGeom>
          <a:ln>
            <a:solidFill>
              <a:srgbClr val="0070C0"/>
            </a:solidFill>
            <a:prstDash val="lgDashDot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11BE6A9-98CF-6830-22A7-720C6F8F1BB9}"/>
              </a:ext>
            </a:extLst>
          </p:cNvPr>
          <p:cNvCxnSpPr>
            <a:cxnSpLocks/>
          </p:cNvCxnSpPr>
          <p:nvPr/>
        </p:nvCxnSpPr>
        <p:spPr>
          <a:xfrm flipH="1">
            <a:off x="8598163" y="4545184"/>
            <a:ext cx="393602" cy="1065729"/>
          </a:xfrm>
          <a:prstGeom prst="line">
            <a:avLst/>
          </a:prstGeom>
          <a:ln>
            <a:solidFill>
              <a:srgbClr val="0070C0"/>
            </a:solidFill>
            <a:prstDash val="lgDashDot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908266E0-57D7-45CA-88A3-FB19B9C429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8740" y="5399280"/>
            <a:ext cx="1424001" cy="1035637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B5F6CA4-D6F4-6210-0052-7000CBBF6544}"/>
              </a:ext>
            </a:extLst>
          </p:cNvPr>
          <p:cNvSpPr txBox="1"/>
          <p:nvPr/>
        </p:nvSpPr>
        <p:spPr>
          <a:xfrm>
            <a:off x="3447553" y="3254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无线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7443DE-49CC-5C9B-656C-C572E2BC6DAA}"/>
              </a:ext>
            </a:extLst>
          </p:cNvPr>
          <p:cNvSpPr txBox="1"/>
          <p:nvPr/>
        </p:nvSpPr>
        <p:spPr>
          <a:xfrm>
            <a:off x="404513" y="327274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光纤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4571CC3-791C-93BB-976A-E94A83F49F6E}"/>
              </a:ext>
            </a:extLst>
          </p:cNvPr>
          <p:cNvSpPr txBox="1"/>
          <p:nvPr/>
        </p:nvSpPr>
        <p:spPr>
          <a:xfrm>
            <a:off x="2026238" y="328300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双绞线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EC7E37A-BC9A-2F5C-325A-4B1F37DE8395}"/>
              </a:ext>
            </a:extLst>
          </p:cNvPr>
          <p:cNvGrpSpPr/>
          <p:nvPr/>
        </p:nvGrpSpPr>
        <p:grpSpPr>
          <a:xfrm>
            <a:off x="8285412" y="3408482"/>
            <a:ext cx="1676400" cy="1444479"/>
            <a:chOff x="5430570" y="1184438"/>
            <a:chExt cx="1257300" cy="1083359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403BE904-77E3-9873-B163-E26990B03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430570" y="1184438"/>
              <a:ext cx="1257300" cy="957263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9211821-ECEC-44B4-8020-24D653CF99AD}"/>
                </a:ext>
              </a:extLst>
            </p:cNvPr>
            <p:cNvSpPr txBox="1"/>
            <p:nvPr/>
          </p:nvSpPr>
          <p:spPr>
            <a:xfrm>
              <a:off x="5661112" y="2036964"/>
              <a:ext cx="811761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桌面路由器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4F2E6954-9E7E-4F5C-4106-6F421CBCE3D4}"/>
              </a:ext>
            </a:extLst>
          </p:cNvPr>
          <p:cNvGrpSpPr/>
          <p:nvPr/>
        </p:nvGrpSpPr>
        <p:grpSpPr>
          <a:xfrm>
            <a:off x="4687152" y="5560877"/>
            <a:ext cx="1441420" cy="792553"/>
            <a:chOff x="6519039" y="4188904"/>
            <a:chExt cx="1081065" cy="594415"/>
          </a:xfrm>
        </p:grpSpPr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BF58E6F6-0F22-D273-84C7-18C077085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687870" y="4188904"/>
              <a:ext cx="561959" cy="425795"/>
            </a:xfrm>
            <a:prstGeom prst="rect">
              <a:avLst/>
            </a:prstGeom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775760D2-344F-71C8-D983-77C9C1AC1A09}"/>
                </a:ext>
              </a:extLst>
            </p:cNvPr>
            <p:cNvSpPr txBox="1"/>
            <p:nvPr/>
          </p:nvSpPr>
          <p:spPr>
            <a:xfrm>
              <a:off x="6519039" y="4552486"/>
              <a:ext cx="1081065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网络打印服务器</a:t>
              </a:r>
            </a:p>
          </p:txBody>
        </p:sp>
      </p:grp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F0A0D04-0B85-342C-3A07-A2767C388366}"/>
              </a:ext>
            </a:extLst>
          </p:cNvPr>
          <p:cNvCxnSpPr>
            <a:cxnSpLocks/>
          </p:cNvCxnSpPr>
          <p:nvPr/>
        </p:nvCxnSpPr>
        <p:spPr>
          <a:xfrm>
            <a:off x="5660563" y="6045653"/>
            <a:ext cx="86990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6FA9925-583E-94F8-DE0A-CEF11065874E}"/>
              </a:ext>
            </a:extLst>
          </p:cNvPr>
          <p:cNvCxnSpPr>
            <a:cxnSpLocks/>
          </p:cNvCxnSpPr>
          <p:nvPr/>
        </p:nvCxnSpPr>
        <p:spPr>
          <a:xfrm>
            <a:off x="1676756" y="1780357"/>
            <a:ext cx="26646" cy="1273533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049FC47-363C-E9CC-2A5D-2E46279C0BE8}"/>
              </a:ext>
            </a:extLst>
          </p:cNvPr>
          <p:cNvCxnSpPr>
            <a:cxnSpLocks/>
          </p:cNvCxnSpPr>
          <p:nvPr/>
        </p:nvCxnSpPr>
        <p:spPr>
          <a:xfrm>
            <a:off x="4165600" y="4366414"/>
            <a:ext cx="418843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62559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CA9BA-C934-3281-18E4-79CC1A1D7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10A94D7-931A-9D63-8053-3CDA19D80655}"/>
              </a:ext>
            </a:extLst>
          </p:cNvPr>
          <p:cNvGrpSpPr/>
          <p:nvPr/>
        </p:nvGrpSpPr>
        <p:grpSpPr>
          <a:xfrm>
            <a:off x="0" y="2"/>
            <a:ext cx="2224799" cy="859577"/>
            <a:chOff x="0" y="1"/>
            <a:chExt cx="2368387" cy="915054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D65DF0AE-A914-1C7D-E958-77DC6923CC02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4" name="图形">
              <a:extLst>
                <a:ext uri="{FF2B5EF4-FFF2-40B4-BE49-F238E27FC236}">
                  <a16:creationId xmlns:a16="http://schemas.microsoft.com/office/drawing/2014/main" id="{219081C0-FD16-B09C-492C-1F1BD7C7F30A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1" y="165139"/>
              <a:ext cx="1507146" cy="62251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sz="3200" dirty="0">
                  <a:sym typeface="方正仿宋_GB2312"/>
                </a:rPr>
                <a:t>练习一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32D2B126-D45B-5D1C-E4AB-48FF7703F6DB}"/>
              </a:ext>
            </a:extLst>
          </p:cNvPr>
          <p:cNvSpPr txBox="1"/>
          <p:nvPr/>
        </p:nvSpPr>
        <p:spPr>
          <a:xfrm>
            <a:off x="2272521" y="322689"/>
            <a:ext cx="93791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将下来图标所示设备连接成局域网，使得所有电脑终端能共享打印机。只能在局域网内运行，不能接入互联网。</a:t>
            </a:r>
          </a:p>
        </p:txBody>
      </p:sp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2B9F05B0-ADF9-3904-B284-A27DA3B31077}"/>
              </a:ext>
            </a:extLst>
          </p:cNvPr>
          <p:cNvSpPr/>
          <p:nvPr/>
        </p:nvSpPr>
        <p:spPr>
          <a:xfrm>
            <a:off x="9038079" y="1780357"/>
            <a:ext cx="2369389" cy="874143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Internet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36844A2-BD0B-1B19-49EB-1F796E743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57" y="5303867"/>
            <a:ext cx="1054999" cy="103816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944D2F6-6B88-6A2E-600F-37058D9C6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155" y="5351251"/>
            <a:ext cx="1054999" cy="103816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4CDA458-BB73-0E78-0941-48AF9A29A4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221" y="5303866"/>
            <a:ext cx="1054999" cy="103816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2F2A819-263E-01B1-D292-7844DAEB30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4895" y="5399280"/>
            <a:ext cx="941541" cy="87414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4F99321-2D84-19F7-9E18-BBF5CA2EEB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1042" y="5385876"/>
            <a:ext cx="941541" cy="87414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E58413E-E37B-37B0-C82F-5599D2E70C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5609" y="1654878"/>
            <a:ext cx="1126827" cy="137511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1BFBE4E-D10A-0C49-02E2-ADECF97D19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5042" y="3693991"/>
            <a:ext cx="1348759" cy="1542824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1A8F710-42B8-0E31-F686-168A19B6EA7C}"/>
              </a:ext>
            </a:extLst>
          </p:cNvPr>
          <p:cNvCxnSpPr/>
          <p:nvPr/>
        </p:nvCxnSpPr>
        <p:spPr>
          <a:xfrm>
            <a:off x="633912" y="1740856"/>
            <a:ext cx="0" cy="131365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991EDF6-661D-2FEA-1BFE-186AEB8EB5BE}"/>
              </a:ext>
            </a:extLst>
          </p:cNvPr>
          <p:cNvCxnSpPr>
            <a:cxnSpLocks/>
          </p:cNvCxnSpPr>
          <p:nvPr/>
        </p:nvCxnSpPr>
        <p:spPr>
          <a:xfrm flipH="1">
            <a:off x="1247696" y="4465403"/>
            <a:ext cx="1996005" cy="1079293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C4B59C2-DD4F-1AC0-CE33-F667F8526BCF}"/>
              </a:ext>
            </a:extLst>
          </p:cNvPr>
          <p:cNvCxnSpPr>
            <a:cxnSpLocks/>
          </p:cNvCxnSpPr>
          <p:nvPr/>
        </p:nvCxnSpPr>
        <p:spPr>
          <a:xfrm flipH="1">
            <a:off x="2732071" y="4465403"/>
            <a:ext cx="723795" cy="103510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2C13C96-D260-C29A-710F-FE88D71467D6}"/>
              </a:ext>
            </a:extLst>
          </p:cNvPr>
          <p:cNvCxnSpPr>
            <a:cxnSpLocks/>
          </p:cNvCxnSpPr>
          <p:nvPr/>
        </p:nvCxnSpPr>
        <p:spPr>
          <a:xfrm>
            <a:off x="3856644" y="4586533"/>
            <a:ext cx="68189" cy="89349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40E73E7-E9D7-A16A-544A-8A9B0228BA2E}"/>
              </a:ext>
            </a:extLst>
          </p:cNvPr>
          <p:cNvCxnSpPr>
            <a:cxnSpLocks/>
          </p:cNvCxnSpPr>
          <p:nvPr/>
        </p:nvCxnSpPr>
        <p:spPr>
          <a:xfrm>
            <a:off x="3991292" y="4465403"/>
            <a:ext cx="1261920" cy="129968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9600D90-A9DF-FC54-253F-79C44CCDC051}"/>
              </a:ext>
            </a:extLst>
          </p:cNvPr>
          <p:cNvCxnSpPr>
            <a:cxnSpLocks/>
          </p:cNvCxnSpPr>
          <p:nvPr/>
        </p:nvCxnSpPr>
        <p:spPr>
          <a:xfrm flipH="1">
            <a:off x="3133620" y="1585379"/>
            <a:ext cx="1" cy="156425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1AE95FB-F498-7071-B146-59DA7EAA47FF}"/>
              </a:ext>
            </a:extLst>
          </p:cNvPr>
          <p:cNvCxnSpPr>
            <a:cxnSpLocks/>
          </p:cNvCxnSpPr>
          <p:nvPr/>
        </p:nvCxnSpPr>
        <p:spPr>
          <a:xfrm>
            <a:off x="9547332" y="4545184"/>
            <a:ext cx="435206" cy="1065729"/>
          </a:xfrm>
          <a:prstGeom prst="line">
            <a:avLst/>
          </a:prstGeom>
          <a:ln>
            <a:solidFill>
              <a:srgbClr val="0070C0"/>
            </a:solidFill>
            <a:prstDash val="lgDashDot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30BF6121-FDA8-E603-E4A7-555CDF1280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8740" y="5399280"/>
            <a:ext cx="1424001" cy="1035637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EE786FFC-C9C9-3BD9-F50A-78EC42E5CCF6}"/>
              </a:ext>
            </a:extLst>
          </p:cNvPr>
          <p:cNvSpPr txBox="1"/>
          <p:nvPr/>
        </p:nvSpPr>
        <p:spPr>
          <a:xfrm>
            <a:off x="3447553" y="3254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无线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6847C7D-2CDD-526C-94F5-B7402B9CDA34}"/>
              </a:ext>
            </a:extLst>
          </p:cNvPr>
          <p:cNvSpPr txBox="1"/>
          <p:nvPr/>
        </p:nvSpPr>
        <p:spPr>
          <a:xfrm>
            <a:off x="404513" y="327274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光纤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76ED356-0CCD-8E39-4D62-7A002529DF66}"/>
              </a:ext>
            </a:extLst>
          </p:cNvPr>
          <p:cNvSpPr txBox="1"/>
          <p:nvPr/>
        </p:nvSpPr>
        <p:spPr>
          <a:xfrm>
            <a:off x="2026238" y="328300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双绞线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D678E4B-9D66-7B09-2A21-4132242EFB63}"/>
              </a:ext>
            </a:extLst>
          </p:cNvPr>
          <p:cNvGrpSpPr/>
          <p:nvPr/>
        </p:nvGrpSpPr>
        <p:grpSpPr>
          <a:xfrm>
            <a:off x="8285412" y="3408482"/>
            <a:ext cx="1676400" cy="1444479"/>
            <a:chOff x="5430570" y="1184438"/>
            <a:chExt cx="1257300" cy="1083359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8BFF5533-CE9E-7E44-66FB-3E74DD6C4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430570" y="1184438"/>
              <a:ext cx="1257300" cy="957263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9D395E8-E867-8AED-7790-F3847D16DBB6}"/>
                </a:ext>
              </a:extLst>
            </p:cNvPr>
            <p:cNvSpPr txBox="1"/>
            <p:nvPr/>
          </p:nvSpPr>
          <p:spPr>
            <a:xfrm>
              <a:off x="5661112" y="2036964"/>
              <a:ext cx="811761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桌面路由器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1A164E6B-71F9-757A-8133-96F459014BAC}"/>
              </a:ext>
            </a:extLst>
          </p:cNvPr>
          <p:cNvGrpSpPr/>
          <p:nvPr/>
        </p:nvGrpSpPr>
        <p:grpSpPr>
          <a:xfrm>
            <a:off x="4687152" y="5560877"/>
            <a:ext cx="1441420" cy="792553"/>
            <a:chOff x="6519039" y="4188904"/>
            <a:chExt cx="1081065" cy="594415"/>
          </a:xfrm>
        </p:grpSpPr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84083801-20A9-34C7-6DBA-CB157D301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687870" y="4188904"/>
              <a:ext cx="561959" cy="425795"/>
            </a:xfrm>
            <a:prstGeom prst="rect">
              <a:avLst/>
            </a:prstGeom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B54091A-26F4-49DE-D498-47E613DE460F}"/>
                </a:ext>
              </a:extLst>
            </p:cNvPr>
            <p:cNvSpPr txBox="1"/>
            <p:nvPr/>
          </p:nvSpPr>
          <p:spPr>
            <a:xfrm>
              <a:off x="6519039" y="4552486"/>
              <a:ext cx="1081065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网络打印服务器</a:t>
              </a:r>
            </a:p>
          </p:txBody>
        </p:sp>
      </p:grp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BCFBA4E-2505-2A70-778D-D859AEE96677}"/>
              </a:ext>
            </a:extLst>
          </p:cNvPr>
          <p:cNvCxnSpPr>
            <a:cxnSpLocks/>
          </p:cNvCxnSpPr>
          <p:nvPr/>
        </p:nvCxnSpPr>
        <p:spPr>
          <a:xfrm>
            <a:off x="5660563" y="6045653"/>
            <a:ext cx="86990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B062F42-C55A-4B7A-4E19-5945569D71DE}"/>
              </a:ext>
            </a:extLst>
          </p:cNvPr>
          <p:cNvCxnSpPr>
            <a:cxnSpLocks/>
          </p:cNvCxnSpPr>
          <p:nvPr/>
        </p:nvCxnSpPr>
        <p:spPr>
          <a:xfrm>
            <a:off x="3998583" y="4489354"/>
            <a:ext cx="4379136" cy="115341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71E02D9-47A2-7382-1106-21107FB60C1C}"/>
              </a:ext>
            </a:extLst>
          </p:cNvPr>
          <p:cNvCxnSpPr>
            <a:cxnSpLocks/>
          </p:cNvCxnSpPr>
          <p:nvPr/>
        </p:nvCxnSpPr>
        <p:spPr>
          <a:xfrm>
            <a:off x="4165600" y="4366414"/>
            <a:ext cx="418843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204357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BD056-3E0E-22E1-9CDC-B730087F5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E848481-571C-4745-9D90-91DF81308FFD}"/>
              </a:ext>
            </a:extLst>
          </p:cNvPr>
          <p:cNvGrpSpPr/>
          <p:nvPr/>
        </p:nvGrpSpPr>
        <p:grpSpPr>
          <a:xfrm>
            <a:off x="0" y="2"/>
            <a:ext cx="2224799" cy="859577"/>
            <a:chOff x="0" y="1"/>
            <a:chExt cx="2368387" cy="915054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83930FE-CCF8-DEAA-3AFD-C5BEEB43915F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4" name="图形">
              <a:extLst>
                <a:ext uri="{FF2B5EF4-FFF2-40B4-BE49-F238E27FC236}">
                  <a16:creationId xmlns:a16="http://schemas.microsoft.com/office/drawing/2014/main" id="{C4B1335C-3FE0-7D7A-0D54-BC6CC86F9B95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1" y="165139"/>
              <a:ext cx="1507146" cy="62251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sz="3200" dirty="0">
                  <a:sym typeface="方正仿宋_GB2312"/>
                </a:rPr>
                <a:t>练习一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2DD8B6F9-BCE0-8DCC-18A5-E5FF9C1C3F94}"/>
              </a:ext>
            </a:extLst>
          </p:cNvPr>
          <p:cNvSpPr txBox="1"/>
          <p:nvPr/>
        </p:nvSpPr>
        <p:spPr>
          <a:xfrm>
            <a:off x="2272521" y="322689"/>
            <a:ext cx="93791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将下来图标所示设备连接成局域网，使得所有电脑终端能共享打印机。只能在局域网内运行，不能接入互联网。</a:t>
            </a:r>
          </a:p>
        </p:txBody>
      </p:sp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363151E7-ABC2-7CC0-DCF9-3F030BDF0850}"/>
              </a:ext>
            </a:extLst>
          </p:cNvPr>
          <p:cNvSpPr/>
          <p:nvPr/>
        </p:nvSpPr>
        <p:spPr>
          <a:xfrm>
            <a:off x="9038079" y="1780357"/>
            <a:ext cx="2369389" cy="874143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Internet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084087F-5C02-1D99-BB14-B54787557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57" y="5303867"/>
            <a:ext cx="1054999" cy="103816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55E9EB1-3F04-5016-B68A-D5A4C9E2C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155" y="5351251"/>
            <a:ext cx="1054999" cy="103816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19537B5-AFB6-2C9F-8EB5-6DC8F8DC2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221" y="5303866"/>
            <a:ext cx="1054999" cy="103816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DAF8DF3-D958-F98E-0DDC-71F639DB6E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4895" y="5399280"/>
            <a:ext cx="941541" cy="87414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5AABFDF-BD9B-FDA4-9372-7D0329D50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1042" y="5385876"/>
            <a:ext cx="941541" cy="87414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F75AD94-DC06-6621-66A4-6DE1187887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5609" y="1654878"/>
            <a:ext cx="1126827" cy="137511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17ADFCD-964A-4875-F3BF-EFB95A1F92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6906" y="2397681"/>
            <a:ext cx="1348759" cy="1542824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DC30B66-F162-5703-60B2-B25408C2EF4E}"/>
              </a:ext>
            </a:extLst>
          </p:cNvPr>
          <p:cNvCxnSpPr/>
          <p:nvPr/>
        </p:nvCxnSpPr>
        <p:spPr>
          <a:xfrm>
            <a:off x="633912" y="1740856"/>
            <a:ext cx="0" cy="131365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15F2580-9A7B-3A48-5A48-03F4973813E3}"/>
              </a:ext>
            </a:extLst>
          </p:cNvPr>
          <p:cNvCxnSpPr>
            <a:cxnSpLocks/>
          </p:cNvCxnSpPr>
          <p:nvPr/>
        </p:nvCxnSpPr>
        <p:spPr>
          <a:xfrm flipH="1">
            <a:off x="1247696" y="4465403"/>
            <a:ext cx="1996005" cy="1079293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0AE7D4A-2724-24ED-0998-AAB7A98831F1}"/>
              </a:ext>
            </a:extLst>
          </p:cNvPr>
          <p:cNvCxnSpPr>
            <a:cxnSpLocks/>
          </p:cNvCxnSpPr>
          <p:nvPr/>
        </p:nvCxnSpPr>
        <p:spPr>
          <a:xfrm flipH="1">
            <a:off x="2732071" y="4465403"/>
            <a:ext cx="723795" cy="103510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D3EAE1F-0DFF-4FEC-7979-0314543D3DEF}"/>
              </a:ext>
            </a:extLst>
          </p:cNvPr>
          <p:cNvCxnSpPr>
            <a:cxnSpLocks/>
          </p:cNvCxnSpPr>
          <p:nvPr/>
        </p:nvCxnSpPr>
        <p:spPr>
          <a:xfrm>
            <a:off x="3856644" y="4586533"/>
            <a:ext cx="68189" cy="89349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02CF2B7-2C83-73F5-D377-9914FA6116D8}"/>
              </a:ext>
            </a:extLst>
          </p:cNvPr>
          <p:cNvCxnSpPr>
            <a:cxnSpLocks/>
          </p:cNvCxnSpPr>
          <p:nvPr/>
        </p:nvCxnSpPr>
        <p:spPr>
          <a:xfrm>
            <a:off x="3991292" y="4465403"/>
            <a:ext cx="1261920" cy="129968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DD2E890-9A39-51B4-043A-43D9DCEF8B29}"/>
              </a:ext>
            </a:extLst>
          </p:cNvPr>
          <p:cNvCxnSpPr>
            <a:cxnSpLocks/>
          </p:cNvCxnSpPr>
          <p:nvPr/>
        </p:nvCxnSpPr>
        <p:spPr>
          <a:xfrm flipH="1">
            <a:off x="3133620" y="1585379"/>
            <a:ext cx="1" cy="156425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04B3FA9-67B0-0EFB-1E0E-65BB78FF56B9}"/>
              </a:ext>
            </a:extLst>
          </p:cNvPr>
          <p:cNvCxnSpPr>
            <a:cxnSpLocks/>
          </p:cNvCxnSpPr>
          <p:nvPr/>
        </p:nvCxnSpPr>
        <p:spPr>
          <a:xfrm>
            <a:off x="4129392" y="4465403"/>
            <a:ext cx="5853146" cy="1145510"/>
          </a:xfrm>
          <a:prstGeom prst="line">
            <a:avLst/>
          </a:prstGeom>
          <a:ln>
            <a:solidFill>
              <a:srgbClr val="0070C0"/>
            </a:solidFill>
            <a:prstDash val="lgDashDot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5D49D869-47F0-D5BE-112B-283EBBC3CE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8740" y="5399280"/>
            <a:ext cx="1424001" cy="1035637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705D5A39-6F44-404E-C753-7767AEF379EA}"/>
              </a:ext>
            </a:extLst>
          </p:cNvPr>
          <p:cNvSpPr txBox="1"/>
          <p:nvPr/>
        </p:nvSpPr>
        <p:spPr>
          <a:xfrm>
            <a:off x="3447553" y="32545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无线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80A0C2-A006-F525-BD7E-581BABCF5FAE}"/>
              </a:ext>
            </a:extLst>
          </p:cNvPr>
          <p:cNvSpPr txBox="1"/>
          <p:nvPr/>
        </p:nvSpPr>
        <p:spPr>
          <a:xfrm>
            <a:off x="404513" y="327274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光纤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1853F59-568C-CC70-4B41-3F65ECF2FBF4}"/>
              </a:ext>
            </a:extLst>
          </p:cNvPr>
          <p:cNvSpPr txBox="1"/>
          <p:nvPr/>
        </p:nvSpPr>
        <p:spPr>
          <a:xfrm>
            <a:off x="2026238" y="328300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双绞线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825F7B1-5175-2553-8A44-18106596AA07}"/>
              </a:ext>
            </a:extLst>
          </p:cNvPr>
          <p:cNvGrpSpPr/>
          <p:nvPr/>
        </p:nvGrpSpPr>
        <p:grpSpPr>
          <a:xfrm>
            <a:off x="2742594" y="3562371"/>
            <a:ext cx="1676400" cy="1444479"/>
            <a:chOff x="5430570" y="1184438"/>
            <a:chExt cx="1257300" cy="1083359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68BF8D7E-9A90-AD00-057E-E96B68E28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430570" y="1184438"/>
              <a:ext cx="1257300" cy="957263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BAB0D4B-A9BF-39D2-5555-5FF8DE08D4B8}"/>
                </a:ext>
              </a:extLst>
            </p:cNvPr>
            <p:cNvSpPr txBox="1"/>
            <p:nvPr/>
          </p:nvSpPr>
          <p:spPr>
            <a:xfrm>
              <a:off x="5661112" y="2036964"/>
              <a:ext cx="811761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桌面路由器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DF11725-9CBF-534B-CE0E-1446F7BDDDC6}"/>
              </a:ext>
            </a:extLst>
          </p:cNvPr>
          <p:cNvGrpSpPr/>
          <p:nvPr/>
        </p:nvGrpSpPr>
        <p:grpSpPr>
          <a:xfrm>
            <a:off x="4687152" y="5560877"/>
            <a:ext cx="1441420" cy="792553"/>
            <a:chOff x="6519039" y="4188904"/>
            <a:chExt cx="1081065" cy="594415"/>
          </a:xfrm>
        </p:grpSpPr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2197B3ED-72D6-D24A-9433-B58A5D657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687870" y="4188904"/>
              <a:ext cx="561959" cy="425795"/>
            </a:xfrm>
            <a:prstGeom prst="rect">
              <a:avLst/>
            </a:prstGeom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2979FDA7-3E7B-C666-9F2C-6396B8F99E45}"/>
                </a:ext>
              </a:extLst>
            </p:cNvPr>
            <p:cNvSpPr txBox="1"/>
            <p:nvPr/>
          </p:nvSpPr>
          <p:spPr>
            <a:xfrm>
              <a:off x="6519039" y="4552486"/>
              <a:ext cx="1081065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网络打印服务器</a:t>
              </a:r>
            </a:p>
          </p:txBody>
        </p:sp>
      </p:grp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0C69E66-D9CA-3BD2-BA82-D13AEB21DD63}"/>
              </a:ext>
            </a:extLst>
          </p:cNvPr>
          <p:cNvCxnSpPr>
            <a:cxnSpLocks/>
          </p:cNvCxnSpPr>
          <p:nvPr/>
        </p:nvCxnSpPr>
        <p:spPr>
          <a:xfrm>
            <a:off x="5660563" y="6045653"/>
            <a:ext cx="86990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750C90A-F99D-92CA-2F46-8855A737B0EB}"/>
              </a:ext>
            </a:extLst>
          </p:cNvPr>
          <p:cNvCxnSpPr>
            <a:cxnSpLocks/>
          </p:cNvCxnSpPr>
          <p:nvPr/>
        </p:nvCxnSpPr>
        <p:spPr>
          <a:xfrm>
            <a:off x="3998583" y="4489354"/>
            <a:ext cx="4379136" cy="115341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2A66C49-5873-7FAC-31B8-4C67C90E624F}"/>
              </a:ext>
            </a:extLst>
          </p:cNvPr>
          <p:cNvCxnSpPr>
            <a:cxnSpLocks/>
          </p:cNvCxnSpPr>
          <p:nvPr/>
        </p:nvCxnSpPr>
        <p:spPr>
          <a:xfrm flipV="1">
            <a:off x="4129392" y="3254594"/>
            <a:ext cx="3514907" cy="121080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4066348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4B0C8-EFC0-A9C7-7701-56E5299AE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DB46F54B-B028-3F39-BFA8-8904398802C2}"/>
              </a:ext>
            </a:extLst>
          </p:cNvPr>
          <p:cNvGrpSpPr/>
          <p:nvPr/>
        </p:nvGrpSpPr>
        <p:grpSpPr>
          <a:xfrm>
            <a:off x="8285412" y="3408482"/>
            <a:ext cx="1676400" cy="1444479"/>
            <a:chOff x="5430570" y="1184438"/>
            <a:chExt cx="1257300" cy="1083359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5B54F9F-395C-8A0C-67E0-5F36C3FBDD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30570" y="1184438"/>
              <a:ext cx="1257300" cy="957263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A5843AF-15A4-742A-17DA-46FEE3B16A99}"/>
                </a:ext>
              </a:extLst>
            </p:cNvPr>
            <p:cNvSpPr txBox="1"/>
            <p:nvPr/>
          </p:nvSpPr>
          <p:spPr>
            <a:xfrm>
              <a:off x="5661112" y="2036964"/>
              <a:ext cx="811761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桌面路由器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4A31FDE-149A-C52D-F1F7-AA5CD8A5B21F}"/>
              </a:ext>
            </a:extLst>
          </p:cNvPr>
          <p:cNvGrpSpPr/>
          <p:nvPr/>
        </p:nvGrpSpPr>
        <p:grpSpPr>
          <a:xfrm>
            <a:off x="0" y="2"/>
            <a:ext cx="2224799" cy="859577"/>
            <a:chOff x="0" y="1"/>
            <a:chExt cx="2368387" cy="915054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4FDECB3A-E517-1A2C-49D2-DD71346DA89B}"/>
                </a:ext>
              </a:extLst>
            </p:cNvPr>
            <p:cNvSpPr/>
            <p:nvPr/>
          </p:nvSpPr>
          <p:spPr>
            <a:xfrm rot="5400000" flipH="1">
              <a:off x="-26907" y="26908"/>
              <a:ext cx="915054" cy="861239"/>
            </a:xfrm>
            <a:custGeom>
              <a:avLst/>
              <a:gdLst>
                <a:gd name="connsiteX0" fmla="*/ 915054 w 915054"/>
                <a:gd name="connsiteY0" fmla="*/ 414629 h 861239"/>
                <a:gd name="connsiteX1" fmla="*/ 915054 w 915054"/>
                <a:gd name="connsiteY1" fmla="*/ 14673 h 861239"/>
                <a:gd name="connsiteX2" fmla="*/ 771188 w 915054"/>
                <a:gd name="connsiteY2" fmla="*/ 0 h 861239"/>
                <a:gd name="connsiteX3" fmla="*/ 0 w 915054"/>
                <a:gd name="connsiteY3" fmla="*/ 780231 h 861239"/>
                <a:gd name="connsiteX4" fmla="*/ 3982 w 915054"/>
                <a:gd name="connsiteY4" fmla="*/ 860005 h 861239"/>
                <a:gd name="connsiteX5" fmla="*/ 4168 w 915054"/>
                <a:gd name="connsiteY5" fmla="*/ 861239 h 861239"/>
                <a:gd name="connsiteX6" fmla="*/ 393875 w 915054"/>
                <a:gd name="connsiteY6" fmla="*/ 861239 h 861239"/>
                <a:gd name="connsiteX7" fmla="*/ 393428 w 915054"/>
                <a:gd name="connsiteY7" fmla="*/ 859764 h 861239"/>
                <a:gd name="connsiteX8" fmla="*/ 385594 w 915054"/>
                <a:gd name="connsiteY8" fmla="*/ 780231 h 861239"/>
                <a:gd name="connsiteX9" fmla="*/ 771188 w 915054"/>
                <a:gd name="connsiteY9" fmla="*/ 385594 h 861239"/>
                <a:gd name="connsiteX10" fmla="*/ 848899 w 915054"/>
                <a:gd name="connsiteY10" fmla="*/ 393612 h 861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5054" h="861238">
                  <a:moveTo>
                    <a:pt x="915054" y="414629"/>
                  </a:moveTo>
                  <a:lnTo>
                    <a:pt x="915054" y="14673"/>
                  </a:lnTo>
                  <a:lnTo>
                    <a:pt x="771188" y="0"/>
                  </a:lnTo>
                  <a:cubicBezTo>
                    <a:pt x="345273" y="0"/>
                    <a:pt x="0" y="349321"/>
                    <a:pt x="0" y="780231"/>
                  </a:cubicBezTo>
                  <a:cubicBezTo>
                    <a:pt x="0" y="807163"/>
                    <a:pt x="1349" y="833776"/>
                    <a:pt x="3982" y="860005"/>
                  </a:cubicBezTo>
                  <a:lnTo>
                    <a:pt x="4168" y="861239"/>
                  </a:lnTo>
                  <a:lnTo>
                    <a:pt x="393875" y="861239"/>
                  </a:lnTo>
                  <a:lnTo>
                    <a:pt x="393428" y="859764"/>
                  </a:lnTo>
                  <a:cubicBezTo>
                    <a:pt x="388291" y="834074"/>
                    <a:pt x="385594" y="807475"/>
                    <a:pt x="385594" y="780231"/>
                  </a:cubicBezTo>
                  <a:cubicBezTo>
                    <a:pt x="385594" y="562279"/>
                    <a:pt x="558230" y="385594"/>
                    <a:pt x="771188" y="385594"/>
                  </a:cubicBezTo>
                  <a:cubicBezTo>
                    <a:pt x="797808" y="385594"/>
                    <a:pt x="823797" y="388355"/>
                    <a:pt x="848899" y="393612"/>
                  </a:cubicBezTo>
                  <a:close/>
                </a:path>
              </a:pathLst>
            </a:custGeom>
            <a:gradFill>
              <a:gsLst>
                <a:gs pos="100000">
                  <a:srgbClr val="504B45">
                    <a:alpha val="60000"/>
                  </a:srgbClr>
                </a:gs>
                <a:gs pos="0">
                  <a:srgbClr val="F7F8F8">
                    <a:alpha val="0"/>
                  </a:srgbClr>
                </a:gs>
              </a:gsLst>
              <a:lin ang="18900000" scaled="1"/>
            </a:gradFill>
            <a:ln w="635000" cap="rnd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方正仿宋_GB2312" panose="02000000000000000000" charset="-122"/>
                <a:sym typeface="方正仿宋_GB2312"/>
              </a:endParaRPr>
            </a:p>
          </p:txBody>
        </p:sp>
        <p:sp>
          <p:nvSpPr>
            <p:cNvPr id="4" name="图形">
              <a:extLst>
                <a:ext uri="{FF2B5EF4-FFF2-40B4-BE49-F238E27FC236}">
                  <a16:creationId xmlns:a16="http://schemas.microsoft.com/office/drawing/2014/main" id="{7884BD1B-64CA-F819-E1EC-9439AF9B6748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861241" y="165139"/>
              <a:ext cx="1507146" cy="622517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>
              <a:lvl1pPr lvl="0">
                <a:defRPr sz="2400">
                  <a:gradFill>
                    <a:gsLst>
                      <a:gs pos="80000">
                        <a:srgbClr val="504B45"/>
                      </a:gs>
                      <a:gs pos="0">
                        <a:srgbClr val="171310"/>
                      </a:gs>
                    </a:gsLst>
                    <a:path path="circle">
                      <a:fillToRect r="100000" b="100000"/>
                    </a:path>
                  </a:gradFill>
                  <a:effectLst>
                    <a:outerShdw blurRad="50800" dist="25400" dir="5400000" algn="ctr" rotWithShape="0">
                      <a:srgbClr val="504B45">
                        <a:alpha val="38000"/>
                      </a:srgbClr>
                    </a:outerShdw>
                  </a:effectLst>
                  <a:latin typeface="汉仪菱心体简" panose="02010609000101010101" pitchFamily="49" charset="-122"/>
                  <a:ea typeface="汉仪菱心体简" panose="02010609000101010101" pitchFamily="49" charset="-122"/>
                  <a:cs typeface="方正仿宋_GB2312" panose="02000000000000000000" charset="-122"/>
                </a:defRPr>
              </a:lvl1pPr>
            </a:lstStyle>
            <a:p>
              <a:r>
                <a:rPr lang="zh-CN" altLang="en-US" sz="3200" dirty="0">
                  <a:sym typeface="方正仿宋_GB2312"/>
                </a:rPr>
                <a:t>练习一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E623BC08-8659-3DD1-89F5-F3438205D3D4}"/>
              </a:ext>
            </a:extLst>
          </p:cNvPr>
          <p:cNvSpPr txBox="1"/>
          <p:nvPr/>
        </p:nvSpPr>
        <p:spPr>
          <a:xfrm>
            <a:off x="2272521" y="322689"/>
            <a:ext cx="93791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将下来图标所示设备连接成局域网，使得所有电脑终端能共享打印机。只能在局域网内运行，不能接入互联网。</a:t>
            </a:r>
          </a:p>
        </p:txBody>
      </p:sp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25BA3740-598C-E143-FEC8-8CBBFE5DEF48}"/>
              </a:ext>
            </a:extLst>
          </p:cNvPr>
          <p:cNvSpPr/>
          <p:nvPr/>
        </p:nvSpPr>
        <p:spPr>
          <a:xfrm>
            <a:off x="9038079" y="1780357"/>
            <a:ext cx="2369389" cy="874143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Internet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41A2906-34E4-0580-0818-62743F0DAB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57" y="5303867"/>
            <a:ext cx="1054999" cy="103816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313B5E8-1D15-76C6-CE9C-E03AC533D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1155" y="5351251"/>
            <a:ext cx="1054999" cy="103816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DCC8855-F3DB-0822-6433-44482B695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0221" y="5303866"/>
            <a:ext cx="1054999" cy="103816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71B1CFB-4A68-FD5B-6BD7-4E0FB79B27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4895" y="5399280"/>
            <a:ext cx="941541" cy="87414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CBA0BEB-426B-1879-AF35-5C20BB9FE7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042" y="5385876"/>
            <a:ext cx="941541" cy="87414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E7B5639-23C2-1049-95EB-B7381A21B5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5938" y="1377972"/>
            <a:ext cx="1126827" cy="137511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A28CDDE7-BA54-53DD-6ACC-42E4C36343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5042" y="3693991"/>
            <a:ext cx="1348759" cy="1542824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241667D-4B63-B145-2B6E-11725BB4D669}"/>
              </a:ext>
            </a:extLst>
          </p:cNvPr>
          <p:cNvCxnSpPr/>
          <p:nvPr/>
        </p:nvCxnSpPr>
        <p:spPr>
          <a:xfrm>
            <a:off x="723272" y="1161835"/>
            <a:ext cx="0" cy="1313651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669DCE7-5625-CD23-33FB-62E990B06691}"/>
              </a:ext>
            </a:extLst>
          </p:cNvPr>
          <p:cNvCxnSpPr>
            <a:cxnSpLocks/>
          </p:cNvCxnSpPr>
          <p:nvPr/>
        </p:nvCxnSpPr>
        <p:spPr>
          <a:xfrm flipH="1">
            <a:off x="1247696" y="4465403"/>
            <a:ext cx="1996005" cy="1079293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EE3CC4A-DD80-6A56-EE27-AA15FE7FFB11}"/>
              </a:ext>
            </a:extLst>
          </p:cNvPr>
          <p:cNvCxnSpPr>
            <a:cxnSpLocks/>
          </p:cNvCxnSpPr>
          <p:nvPr/>
        </p:nvCxnSpPr>
        <p:spPr>
          <a:xfrm flipH="1">
            <a:off x="2732071" y="4465403"/>
            <a:ext cx="723795" cy="103510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9F21BBCF-9CF3-3555-78E2-A70F6F203E86}"/>
              </a:ext>
            </a:extLst>
          </p:cNvPr>
          <p:cNvCxnSpPr>
            <a:cxnSpLocks/>
          </p:cNvCxnSpPr>
          <p:nvPr/>
        </p:nvCxnSpPr>
        <p:spPr>
          <a:xfrm>
            <a:off x="3856644" y="4586533"/>
            <a:ext cx="68189" cy="89349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419E711-81F4-72E4-81BA-57A0382D8CEC}"/>
              </a:ext>
            </a:extLst>
          </p:cNvPr>
          <p:cNvCxnSpPr>
            <a:cxnSpLocks/>
          </p:cNvCxnSpPr>
          <p:nvPr/>
        </p:nvCxnSpPr>
        <p:spPr>
          <a:xfrm flipH="1">
            <a:off x="1649486" y="998229"/>
            <a:ext cx="1" cy="156425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A796276-B884-97C8-EC2E-A03E507F7632}"/>
              </a:ext>
            </a:extLst>
          </p:cNvPr>
          <p:cNvCxnSpPr>
            <a:cxnSpLocks/>
          </p:cNvCxnSpPr>
          <p:nvPr/>
        </p:nvCxnSpPr>
        <p:spPr>
          <a:xfrm>
            <a:off x="9547332" y="4545184"/>
            <a:ext cx="435206" cy="1065729"/>
          </a:xfrm>
          <a:prstGeom prst="line">
            <a:avLst/>
          </a:prstGeom>
          <a:ln>
            <a:solidFill>
              <a:srgbClr val="0070C0"/>
            </a:solidFill>
            <a:prstDash val="lgDashDot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94956340-90B0-31FD-6E2C-775972CDC3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8740" y="5399280"/>
            <a:ext cx="1424001" cy="1035637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1A7A36C6-F7DA-0F60-8640-40AFD8BE48D1}"/>
              </a:ext>
            </a:extLst>
          </p:cNvPr>
          <p:cNvSpPr txBox="1"/>
          <p:nvPr/>
        </p:nvSpPr>
        <p:spPr>
          <a:xfrm>
            <a:off x="2365918" y="265450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无线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2611B6-9029-37E0-1455-CB7DA03ED7B0}"/>
              </a:ext>
            </a:extLst>
          </p:cNvPr>
          <p:cNvSpPr txBox="1"/>
          <p:nvPr/>
        </p:nvSpPr>
        <p:spPr>
          <a:xfrm>
            <a:off x="451402" y="268328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光纤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1CBB1E4-0BFB-41FD-59CE-799D7A3419FE}"/>
              </a:ext>
            </a:extLst>
          </p:cNvPr>
          <p:cNvSpPr txBox="1"/>
          <p:nvPr/>
        </p:nvSpPr>
        <p:spPr>
          <a:xfrm>
            <a:off x="1341524" y="266916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双绞线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9AD3BFA-D997-D0D4-D9BE-13DDAECC4158}"/>
              </a:ext>
            </a:extLst>
          </p:cNvPr>
          <p:cNvGrpSpPr/>
          <p:nvPr/>
        </p:nvGrpSpPr>
        <p:grpSpPr>
          <a:xfrm>
            <a:off x="4687152" y="5560877"/>
            <a:ext cx="1441420" cy="792553"/>
            <a:chOff x="6519039" y="4188904"/>
            <a:chExt cx="1081065" cy="594415"/>
          </a:xfrm>
        </p:grpSpPr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93D956AE-F435-3B6C-EB1C-621456EE0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687870" y="4188904"/>
              <a:ext cx="561959" cy="425795"/>
            </a:xfrm>
            <a:prstGeom prst="rect">
              <a:avLst/>
            </a:prstGeom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CB76D623-0D49-2172-2B0F-F18A06B48ADA}"/>
                </a:ext>
              </a:extLst>
            </p:cNvPr>
            <p:cNvSpPr txBox="1"/>
            <p:nvPr/>
          </p:nvSpPr>
          <p:spPr>
            <a:xfrm>
              <a:off x="6519039" y="4552486"/>
              <a:ext cx="1081065" cy="2308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网络打印服务器</a:t>
              </a:r>
            </a:p>
          </p:txBody>
        </p:sp>
      </p:grp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C451821-2710-7B62-EE4C-333D47BB6C60}"/>
              </a:ext>
            </a:extLst>
          </p:cNvPr>
          <p:cNvCxnSpPr>
            <a:cxnSpLocks/>
          </p:cNvCxnSpPr>
          <p:nvPr/>
        </p:nvCxnSpPr>
        <p:spPr>
          <a:xfrm>
            <a:off x="5660563" y="6045653"/>
            <a:ext cx="86990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54BCE99-E856-A308-A22D-C087F7666307}"/>
              </a:ext>
            </a:extLst>
          </p:cNvPr>
          <p:cNvCxnSpPr>
            <a:cxnSpLocks/>
          </p:cNvCxnSpPr>
          <p:nvPr/>
        </p:nvCxnSpPr>
        <p:spPr>
          <a:xfrm>
            <a:off x="4165600" y="4366414"/>
            <a:ext cx="418843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613E76D9-721B-FCD3-D6B4-B344963E8490}"/>
              </a:ext>
            </a:extLst>
          </p:cNvPr>
          <p:cNvCxnSpPr>
            <a:cxnSpLocks/>
          </p:cNvCxnSpPr>
          <p:nvPr/>
        </p:nvCxnSpPr>
        <p:spPr>
          <a:xfrm flipH="1">
            <a:off x="5253212" y="4433466"/>
            <a:ext cx="3356185" cy="133161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0130E6E-843A-0575-2D22-203DD6B1DAF2}"/>
              </a:ext>
            </a:extLst>
          </p:cNvPr>
          <p:cNvCxnSpPr>
            <a:cxnSpLocks/>
          </p:cNvCxnSpPr>
          <p:nvPr/>
        </p:nvCxnSpPr>
        <p:spPr>
          <a:xfrm flipH="1">
            <a:off x="8639097" y="4502490"/>
            <a:ext cx="428904" cy="1040945"/>
          </a:xfrm>
          <a:prstGeom prst="line">
            <a:avLst/>
          </a:prstGeom>
          <a:ln>
            <a:solidFill>
              <a:srgbClr val="0070C0"/>
            </a:solidFill>
            <a:prstDash val="lgDashDot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48DF73C6-B4AF-F33B-BF23-09685F2F613A}"/>
              </a:ext>
            </a:extLst>
          </p:cNvPr>
          <p:cNvSpPr txBox="1"/>
          <p:nvPr/>
        </p:nvSpPr>
        <p:spPr>
          <a:xfrm>
            <a:off x="4305051" y="3092041"/>
            <a:ext cx="4048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FF0000"/>
                </a:solidFill>
                <a:effectLst/>
                <a:latin typeface="+mn-ea"/>
                <a:ea typeface="+mn-ea"/>
              </a:rPr>
              <a:t>台式机为何不能访问打印机？</a:t>
            </a:r>
            <a:endParaRPr lang="zh-CN" altLang="en-US" sz="24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9320033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26.10280051150895,&quot;left&quot;:24,&quot;top&quot;:180.8,&quot;width&quot;:902.9527979053767}"/>
</p:tagLst>
</file>

<file path=ppt/theme/theme1.xml><?xml version="1.0" encoding="utf-8"?>
<a:theme xmlns:a="http://schemas.openxmlformats.org/drawingml/2006/main" name="卷草阳台">
  <a:themeElements>
    <a:clrScheme name="卷草阳台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卷草阳台">
      <a:majorFont>
        <a:latin typeface="Arial"/>
        <a:ea typeface="黑体"/>
        <a:cs typeface=""/>
      </a:majorFont>
      <a:minorFont>
        <a:latin typeface="Arial Rounded MT Bold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卷草阳台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卷草阳台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卷草阳台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卷草阳台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卷草阳台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卷草阳台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卷草阳台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卷草阳台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卷草阳台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卷草阳台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卷草阳台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卷草阳台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清香</Template>
  <TotalTime>309</TotalTime>
  <Words>1421</Words>
  <Application>Microsoft Office PowerPoint</Application>
  <PresentationFormat>宽屏</PresentationFormat>
  <Paragraphs>199</Paragraphs>
  <Slides>29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6" baseType="lpstr">
      <vt:lpstr>等线</vt:lpstr>
      <vt:lpstr>方正仿宋_GB2312</vt:lpstr>
      <vt:lpstr>微软雅黑</vt:lpstr>
      <vt:lpstr>Arial</vt:lpstr>
      <vt:lpstr>Arial Black</vt:lpstr>
      <vt:lpstr>Arial Rounded MT Bold</vt:lpstr>
      <vt:lpstr>卷草阳台</vt:lpstr>
      <vt:lpstr>体验另一种互联网</vt:lpstr>
      <vt:lpstr>第一课</vt:lpstr>
      <vt:lpstr>网址</vt:lpstr>
      <vt:lpstr>网络协议</vt:lpstr>
      <vt:lpstr>常见域名及后缀</vt:lpstr>
      <vt:lpstr>域名与IP地址</vt:lpstr>
      <vt:lpstr>启动cmd</vt:lpstr>
      <vt:lpstr>ping命令</vt:lpstr>
      <vt:lpstr>第二课</vt:lpstr>
      <vt:lpstr>tracert命令</vt:lpstr>
      <vt:lpstr>tracert反映的意义</vt:lpstr>
      <vt:lpstr>家庭网络</vt:lpstr>
      <vt:lpstr>网络拓扑</vt:lpstr>
      <vt:lpstr>拓扑结构</vt:lpstr>
      <vt:lpstr>网络的分类</vt:lpstr>
      <vt:lpstr>课后练习</vt:lpstr>
      <vt:lpstr>第三课</vt:lpstr>
      <vt:lpstr>问题</vt:lpstr>
      <vt:lpstr>原理</vt:lpstr>
      <vt:lpstr>打印机局域网解析</vt:lpstr>
      <vt:lpstr>局域网组成</vt:lpstr>
      <vt:lpstr>传输介质</vt:lpstr>
      <vt:lpstr>交换机与路由器</vt:lpstr>
      <vt:lpstr>交换机与路由器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体验另一种互联网</dc:title>
  <dc:creator>Administrator</dc:creator>
  <cp:lastModifiedBy>wenqian zhang</cp:lastModifiedBy>
  <cp:revision>29</cp:revision>
  <dcterms:created xsi:type="dcterms:W3CDTF">2022-10-30T21:03:25Z</dcterms:created>
  <dcterms:modified xsi:type="dcterms:W3CDTF">2025-11-03T09:12:10Z</dcterms:modified>
</cp:coreProperties>
</file>